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inyon Script"/>
      <p:regular r:id="rId30"/>
    </p:embeddedFont>
    <p:embeddedFont>
      <p:font typeface="Playfair Display"/>
      <p:regular r:id="rId31"/>
      <p:bold r:id="rId32"/>
      <p:italic r:id="rId33"/>
      <p:boldItalic r:id="rId34"/>
    </p:embeddedFont>
    <p:embeddedFont>
      <p:font typeface="Monsieur La Doulais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99D823-F3DF-40B5-8E95-67727D998BD5}">
  <a:tblStyle styleId="{7D99D823-F3DF-40B5-8E95-67727D998B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regular.fntdata"/><Relationship Id="rId30" Type="http://schemas.openxmlformats.org/officeDocument/2006/relationships/font" Target="fonts/PinyonScript-regular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7.xml"/><Relationship Id="rId35" Type="http://schemas.openxmlformats.org/officeDocument/2006/relationships/font" Target="fonts/MonsieurLaDoulaise-regular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4189720f3_0_0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1f4189720f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4086e299a_0_1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34086e299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3" name="Google Shape;63;g334086e299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f4189720f3_0_21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1f4189720f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5" name="Google Shape;75;g1f4189720f3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95853a5a_0_0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db95853a5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" name="Google Shape;86;g3db95853a5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b95853a5a_0_146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db95853a5a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8" name="Google Shape;98;g3db95853a5a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b95853a5a_0_156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b95853a5a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1" name="Google Shape;111;g3db95853a5a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8aeb0b86_0_36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9a8aeb0b8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2" name="Google Shape;152;g39a8aeb0b8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a8aeb0b86_0_272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a8aeb0b86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0" name="Google Shape;230;g39a8aeb0b86_0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8aeb0b86_0_337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9a8aeb0b86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6" name="Google Shape;296;g39a8aeb0b86_0_3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a8aeb0b86_0_396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9a8aeb0b86_0_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9" name="Google Shape;349;g39a8aeb0b86_0_3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bef751145_0_10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dbef75114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5" name="Google Shape;405;g3dbef75114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bef751145_0_25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dbef751145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17" name="Google Shape;417;g3dbef751145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bef751145_0_65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dbef751145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8" name="Google Shape;458;g3dbef751145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bef751145_0_142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dbef751145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22" name="Google Shape;522;g3dbef751145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bef751145_0_392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dbef751145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5" name="Google Shape;575;g3dbef751145_0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bef751145_0_314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dbef751145_0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55" name="Google Shape;655;g3dbef751145_0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bef751145_0_495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g3dbef751145_0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67" name="Google Shape;667;g3dbef751145_0_4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dbef751145_0_535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dbef751145_0_5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28" name="Google Shape;728;g3dbef751145_0_5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dbef751145_0_851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dbef751145_0_8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41" name="Google Shape;741;g3dbef751145_0_8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dbef751145_0_729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dbef751145_0_7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53" name="Google Shape;753;g3dbef751145_0_7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dbef751145_0_0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3dbef75114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66" name="Google Shape;766;g3dbef7511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db95853a5a_0_11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3db95853a5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78" name="Google Shape;778;g3db95853a5a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9a8aeb0b86_0_3:notes"/>
          <p:cNvSpPr/>
          <p:nvPr>
            <p:ph idx="2" type="sldImg"/>
          </p:nvPr>
        </p:nvSpPr>
        <p:spPr>
          <a:xfrm>
            <a:off x="766482" y="1143000"/>
            <a:ext cx="53250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g39a8aeb0b8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725" lIns="81475" spcFirstLastPara="1" rIns="81475" wrap="square" tIns="407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3" name="Google Shape;793;g39a8aeb0b8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0725" lIns="81475" spcFirstLastPara="1" rIns="81475" wrap="square" tIns="40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ia-dev/algorithms" TargetMode="External"/><Relationship Id="rId4" Type="http://schemas.openxmlformats.org/officeDocument/2006/relationships/hyperlink" Target="https://github.com/ia-dev/algorithms/discussions" TargetMode="External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ia-dev.github.io/algorithms/" TargetMode="External"/><Relationship Id="rId4" Type="http://schemas.openxmlformats.org/officeDocument/2006/relationships/hyperlink" Target="https://visualgo.net/en/sorting?slide=2" TargetMode="External"/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12" Type="http://schemas.openxmlformats.org/officeDocument/2006/relationships/image" Target="../media/image14.png"/><Relationship Id="rId9" Type="http://schemas.openxmlformats.org/officeDocument/2006/relationships/image" Target="../media/image6.png"/><Relationship Id="rId5" Type="http://schemas.openxmlformats.org/officeDocument/2006/relationships/hyperlink" Target="https://ocw.mit.edu/courses/18-s191-introduction-to-computational-thinking-fall-2020/" TargetMode="External"/><Relationship Id="rId6" Type="http://schemas.openxmlformats.org/officeDocument/2006/relationships/hyperlink" Target="https://ocw.mit.edu/courses/6-006-introduction-to-algorithms-spring-2020/" TargetMode="External"/><Relationship Id="rId7" Type="http://schemas.openxmlformats.org/officeDocument/2006/relationships/hyperlink" Target="https://ocw.mit.edu/courses/6-046j-design-and-analysis-of-algorithms-spring-2015/" TargetMode="External"/><Relationship Id="rId8" Type="http://schemas.openxmlformats.org/officeDocument/2006/relationships/hyperlink" Target="https://www.youtube.com/playlist?list=PL601FC994BDD963E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918275" y="3861650"/>
            <a:ext cx="5175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Dr.</a:t>
            </a:r>
            <a:r>
              <a:rPr b="1" i="0" lang="en" sz="22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i="0" lang="en" sz="22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Ibraheem Al-Dhamari</a:t>
            </a:r>
            <a:endParaRPr b="1" i="0" sz="2200" u="none" cap="none" strike="noStrike">
              <a:solidFill>
                <a:schemeClr val="dk1"/>
              </a:solidFill>
              <a:latin typeface="Pinyon Script"/>
              <a:ea typeface="Pinyon Script"/>
              <a:cs typeface="Pinyon Script"/>
              <a:sym typeface="Pinyon Scrip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</a:t>
            </a: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@idhamari.com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5.5</a:t>
            </a:r>
            <a:r>
              <a:rPr b="1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.2026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305050" y="2053167"/>
            <a:ext cx="6193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&amp; Data Structure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 Algorithms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            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ia</a:t>
            </a: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187" y="649479"/>
            <a:ext cx="1312200" cy="13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50" y="741375"/>
            <a:ext cx="87840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presentation and all resources are available publicly in my Github repository for free, please use the link below or scan the QR code</a:t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b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https://github.com/ia-dev/algorithms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have questions in the future, feel free to use the discussion tab in the Github repository: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b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https://github.com/ia-dev/algorithms/discussions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50" y="28640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            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ia</a:t>
            </a: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6875" y="1766470"/>
            <a:ext cx="2677000" cy="25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50" y="741375"/>
            <a:ext cx="85335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Terminology:</a:t>
            </a:r>
            <a:endParaRPr b="1">
              <a:solidFill>
                <a:srgbClr val="0000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Algorithms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Sorting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Sorting</a:t>
            </a:r>
            <a:r>
              <a:rPr b="1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algorithms:</a:t>
            </a:r>
            <a:endParaRPr b="1">
              <a:solidFill>
                <a:srgbClr val="0000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Bubble sort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Selection sort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Radix Sort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</a:t>
            </a:r>
            <a:r>
              <a:rPr b="1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esources </a:t>
            </a:r>
            <a:endParaRPr b="1">
              <a:solidFill>
                <a:srgbClr val="0000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Readings: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Websites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- Video lecures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50" y="28640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b="1" lang="en" sz="1800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ontent</a:t>
            </a:r>
            <a:endParaRPr b="1" sz="1800">
              <a:solidFill>
                <a:srgbClr val="0000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            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ia</a:t>
            </a: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50" y="741375"/>
            <a:ext cx="8784000" cy="3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algorithm? 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finite, deterministic, and effective problem-solving method suitable for implementation as a computer program.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Muhammad ibn Musa al-Khwarizmi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provided the first systematic, step-by-step instructions for simple math operations.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Pseudo</a:t>
            </a: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describing the algorithms steps in a way between natural language and a computer program. 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it is important? 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Practilicaty e.g. Time and Memory.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to compare algorithms? 	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Big O notation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(the worst case)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Times New Roman"/>
              <a:buChar char="○"/>
            </a:pPr>
            <a:r>
              <a:rPr b="1" lang="en" sz="12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O(log(n)) </a:t>
            </a: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algorithm is better than </a:t>
            </a:r>
            <a:r>
              <a:rPr b="1" lang="en" sz="12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r>
              <a:rPr lang="en" sz="12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  <a:endParaRPr sz="12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Times New Roman"/>
              <a:buChar char="○"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Big O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strip away constants and coefficients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Focus on the "shape" of the scaling.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150" y="286400"/>
            <a:ext cx="502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Terminology, Algorithms: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800" y="1740525"/>
            <a:ext cx="4507601" cy="27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50" y="741375"/>
            <a:ext cx="8784000" cy="3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sorting? 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Arranging a collection of data into a specific, meaningful logical order.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it is important?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aking the data easier to search, analyze, or visualize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.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•"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Some popular sorting algorithms: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Bubble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Selection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Insertion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Radix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Merge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Quick 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Powersort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50" y="286400"/>
            <a:ext cx="33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Terminology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150" y="386025"/>
            <a:ext cx="4086275" cy="22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1010" y="2705275"/>
            <a:ext cx="2934140" cy="16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755000" y="819775"/>
            <a:ext cx="70185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sorting algorithm that repeatedly compares adjacent elements, and swaps them if they are out of order.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largest element 'bubble' to the top of the list.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50" y="286400"/>
            <a:ext cx="33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g, 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</a:t>
            </a: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9" name="Google Shape;119;p18"/>
          <p:cNvGrpSpPr/>
          <p:nvPr/>
        </p:nvGrpSpPr>
        <p:grpSpPr>
          <a:xfrm>
            <a:off x="3041005" y="1965137"/>
            <a:ext cx="2689784" cy="432478"/>
            <a:chOff x="3041005" y="1965137"/>
            <a:chExt cx="2689784" cy="432478"/>
          </a:xfrm>
        </p:grpSpPr>
        <p:sp>
          <p:nvSpPr>
            <p:cNvPr id="120" name="Google Shape;120;p18"/>
            <p:cNvSpPr/>
            <p:nvPr/>
          </p:nvSpPr>
          <p:spPr>
            <a:xfrm>
              <a:off x="3041005" y="19671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3582642" y="19651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4130459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4688572" y="197131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5236388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3057480" y="2543845"/>
            <a:ext cx="2689784" cy="432478"/>
            <a:chOff x="3057480" y="2543845"/>
            <a:chExt cx="2689784" cy="432478"/>
          </a:xfrm>
        </p:grpSpPr>
        <p:sp>
          <p:nvSpPr>
            <p:cNvPr id="126" name="Google Shape;126;p18"/>
            <p:cNvSpPr/>
            <p:nvPr/>
          </p:nvSpPr>
          <p:spPr>
            <a:xfrm>
              <a:off x="3057480" y="254590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599118" y="2543845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146934" y="25479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4705048" y="255002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5252864" y="25479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3061599" y="3054591"/>
            <a:ext cx="2689784" cy="432478"/>
            <a:chOff x="3061599" y="3054591"/>
            <a:chExt cx="2689784" cy="432478"/>
          </a:xfrm>
        </p:grpSpPr>
        <p:sp>
          <p:nvSpPr>
            <p:cNvPr id="132" name="Google Shape;132;p18"/>
            <p:cNvSpPr/>
            <p:nvPr/>
          </p:nvSpPr>
          <p:spPr>
            <a:xfrm>
              <a:off x="3061599" y="30566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3603237" y="30545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4151053" y="3058710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4709167" y="30607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256983" y="30587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3078075" y="3540623"/>
            <a:ext cx="2689784" cy="432478"/>
            <a:chOff x="3078075" y="3540623"/>
            <a:chExt cx="2689784" cy="432478"/>
          </a:xfrm>
        </p:grpSpPr>
        <p:sp>
          <p:nvSpPr>
            <p:cNvPr id="138" name="Google Shape;138;p18"/>
            <p:cNvSpPr/>
            <p:nvPr/>
          </p:nvSpPr>
          <p:spPr>
            <a:xfrm>
              <a:off x="3078075" y="354268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3619713" y="354062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4167529" y="354474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725642" y="3546802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5273458" y="354474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3088372" y="4020477"/>
            <a:ext cx="2689784" cy="432478"/>
            <a:chOff x="3088372" y="4020477"/>
            <a:chExt cx="2689784" cy="432478"/>
          </a:xfrm>
        </p:grpSpPr>
        <p:sp>
          <p:nvSpPr>
            <p:cNvPr id="144" name="Google Shape;144;p18"/>
            <p:cNvSpPr/>
            <p:nvPr/>
          </p:nvSpPr>
          <p:spPr>
            <a:xfrm>
              <a:off x="3088372" y="40225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630010" y="402047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4177826" y="402459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4735940" y="40266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5283756" y="4024596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3905975" y="315510"/>
            <a:ext cx="2689784" cy="432478"/>
            <a:chOff x="3905975" y="315510"/>
            <a:chExt cx="2689784" cy="432478"/>
          </a:xfrm>
        </p:grpSpPr>
        <p:sp>
          <p:nvSpPr>
            <p:cNvPr id="160" name="Google Shape;160;p19"/>
            <p:cNvSpPr/>
            <p:nvPr/>
          </p:nvSpPr>
          <p:spPr>
            <a:xfrm>
              <a:off x="3905975" y="31757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4447613" y="315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4995429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5553542" y="32168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6101358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sp>
        <p:nvSpPr>
          <p:cNvPr id="165" name="Google Shape;165;p19"/>
          <p:cNvSpPr txBox="1"/>
          <p:nvPr/>
        </p:nvSpPr>
        <p:spPr>
          <a:xfrm>
            <a:off x="6908670" y="373178"/>
            <a:ext cx="815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</a:t>
            </a:r>
            <a:r>
              <a:rPr b="1" lang="en" sz="1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</a:t>
            </a:r>
            <a:endParaRPr b="1" sz="10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3850375" y="768595"/>
            <a:ext cx="2749502" cy="506700"/>
            <a:chOff x="3850375" y="768595"/>
            <a:chExt cx="2749502" cy="506700"/>
          </a:xfrm>
        </p:grpSpPr>
        <p:sp>
          <p:nvSpPr>
            <p:cNvPr id="167" name="Google Shape;167;p19"/>
            <p:cNvSpPr/>
            <p:nvPr/>
          </p:nvSpPr>
          <p:spPr>
            <a:xfrm>
              <a:off x="3910094" y="80978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4451732" y="80772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grpSp>
          <p:nvGrpSpPr>
            <p:cNvPr id="169" name="Google Shape;169;p19"/>
            <p:cNvGrpSpPr/>
            <p:nvPr/>
          </p:nvGrpSpPr>
          <p:grpSpPr>
            <a:xfrm>
              <a:off x="3850375" y="768595"/>
              <a:ext cx="2749502" cy="506700"/>
              <a:chOff x="3850375" y="768595"/>
              <a:chExt cx="2749502" cy="506700"/>
            </a:xfrm>
          </p:grpSpPr>
          <p:sp>
            <p:nvSpPr>
              <p:cNvPr id="170" name="Google Shape;170;p19"/>
              <p:cNvSpPr/>
              <p:nvPr/>
            </p:nvSpPr>
            <p:spPr>
              <a:xfrm>
                <a:off x="4999548" y="811840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5557661" y="813899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>
                <a:off x="6105477" y="811840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  <p:sp>
            <p:nvSpPr>
              <p:cNvPr id="173" name="Google Shape;173;p19"/>
              <p:cNvSpPr/>
              <p:nvPr/>
            </p:nvSpPr>
            <p:spPr>
              <a:xfrm>
                <a:off x="3850375" y="768595"/>
                <a:ext cx="1118400" cy="506700"/>
              </a:xfrm>
              <a:prstGeom prst="rect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" name="Google Shape;174;p19"/>
          <p:cNvGrpSpPr/>
          <p:nvPr/>
        </p:nvGrpSpPr>
        <p:grpSpPr>
          <a:xfrm>
            <a:off x="3926570" y="1718005"/>
            <a:ext cx="2689784" cy="506700"/>
            <a:chOff x="3926570" y="1718005"/>
            <a:chExt cx="2689784" cy="506700"/>
          </a:xfrm>
        </p:grpSpPr>
        <p:sp>
          <p:nvSpPr>
            <p:cNvPr id="175" name="Google Shape;175;p19"/>
            <p:cNvSpPr/>
            <p:nvPr/>
          </p:nvSpPr>
          <p:spPr>
            <a:xfrm>
              <a:off x="4441440" y="171800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3926570" y="174683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4468207" y="174477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5016023" y="17488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5574137" y="17509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6121953" y="17488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3953343" y="2807459"/>
            <a:ext cx="2689784" cy="506700"/>
            <a:chOff x="3953343" y="2807459"/>
            <a:chExt cx="2689784" cy="506700"/>
          </a:xfrm>
        </p:grpSpPr>
        <p:sp>
          <p:nvSpPr>
            <p:cNvPr id="182" name="Google Shape;182;p19"/>
            <p:cNvSpPr/>
            <p:nvPr/>
          </p:nvSpPr>
          <p:spPr>
            <a:xfrm>
              <a:off x="5018088" y="2807459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19"/>
            <p:cNvGrpSpPr/>
            <p:nvPr/>
          </p:nvGrpSpPr>
          <p:grpSpPr>
            <a:xfrm>
              <a:off x="3953343" y="2834229"/>
              <a:ext cx="2689784" cy="432478"/>
              <a:chOff x="3953343" y="2834229"/>
              <a:chExt cx="2689784" cy="432478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3953343" y="2836288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>
                <a:off x="4494980" y="2834229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5042796" y="2838348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5600910" y="284040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>
                <a:off x="6148726" y="2838348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</p:grpSp>
      </p:grpSp>
      <p:grpSp>
        <p:nvGrpSpPr>
          <p:cNvPr id="189" name="Google Shape;189;p19"/>
          <p:cNvGrpSpPr/>
          <p:nvPr/>
        </p:nvGrpSpPr>
        <p:grpSpPr>
          <a:xfrm>
            <a:off x="3973937" y="3853665"/>
            <a:ext cx="2726843" cy="506700"/>
            <a:chOff x="3973937" y="3853665"/>
            <a:chExt cx="2726843" cy="506700"/>
          </a:xfrm>
        </p:grpSpPr>
        <p:sp>
          <p:nvSpPr>
            <p:cNvPr id="190" name="Google Shape;190;p19"/>
            <p:cNvSpPr/>
            <p:nvPr/>
          </p:nvSpPr>
          <p:spPr>
            <a:xfrm>
              <a:off x="5582380" y="385366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3973937" y="38824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4515575" y="388043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5063391" y="38845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5621505" y="388661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6169321" y="38845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3974810" y="4391180"/>
            <a:ext cx="2689784" cy="432478"/>
            <a:chOff x="4021305" y="4391180"/>
            <a:chExt cx="2689784" cy="432478"/>
          </a:xfrm>
        </p:grpSpPr>
        <p:sp>
          <p:nvSpPr>
            <p:cNvPr id="197" name="Google Shape;197;p19"/>
            <p:cNvSpPr/>
            <p:nvPr/>
          </p:nvSpPr>
          <p:spPr>
            <a:xfrm>
              <a:off x="4021305" y="439323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4562943" y="439118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5110759" y="439529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5668872" y="439735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6216688" y="439529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3932748" y="1275218"/>
            <a:ext cx="3836930" cy="432478"/>
            <a:chOff x="3932748" y="1275218"/>
            <a:chExt cx="3836930" cy="432478"/>
          </a:xfrm>
        </p:grpSpPr>
        <p:grpSp>
          <p:nvGrpSpPr>
            <p:cNvPr id="203" name="Google Shape;203;p19"/>
            <p:cNvGrpSpPr/>
            <p:nvPr/>
          </p:nvGrpSpPr>
          <p:grpSpPr>
            <a:xfrm>
              <a:off x="3932748" y="1275218"/>
              <a:ext cx="2689784" cy="432478"/>
              <a:chOff x="3932748" y="1275218"/>
              <a:chExt cx="2689784" cy="432478"/>
            </a:xfrm>
          </p:grpSpPr>
          <p:sp>
            <p:nvSpPr>
              <p:cNvPr id="204" name="Google Shape;204;p19"/>
              <p:cNvSpPr/>
              <p:nvPr/>
            </p:nvSpPr>
            <p:spPr>
              <a:xfrm>
                <a:off x="3932748" y="1277278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4474386" y="1275218"/>
                <a:ext cx="494400" cy="426300"/>
              </a:xfrm>
              <a:prstGeom prst="ellipse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>
                <a:off x="5022202" y="127933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207" name="Google Shape;207;p19"/>
              <p:cNvSpPr/>
              <p:nvPr/>
            </p:nvSpPr>
            <p:spPr>
              <a:xfrm>
                <a:off x="5580315" y="128139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>
                <a:off x="6128131" y="127933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</p:grpSp>
        <p:sp>
          <p:nvSpPr>
            <p:cNvPr id="209" name="Google Shape;209;p19"/>
            <p:cNvSpPr txBox="1"/>
            <p:nvPr/>
          </p:nvSpPr>
          <p:spPr>
            <a:xfrm>
              <a:off x="6953978" y="1363778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0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1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930688" y="2292591"/>
            <a:ext cx="3847227" cy="432478"/>
            <a:chOff x="3930688" y="2292591"/>
            <a:chExt cx="3847227" cy="432478"/>
          </a:xfrm>
        </p:grpSpPr>
        <p:sp>
          <p:nvSpPr>
            <p:cNvPr id="211" name="Google Shape;211;p19"/>
            <p:cNvSpPr/>
            <p:nvPr/>
          </p:nvSpPr>
          <p:spPr>
            <a:xfrm>
              <a:off x="3930688" y="229465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4472326" y="22925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5020142" y="2296710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5578256" y="22987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6126072" y="22967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6962216" y="2360556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0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2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3957461" y="3363510"/>
            <a:ext cx="3828692" cy="432478"/>
            <a:chOff x="3957461" y="3363510"/>
            <a:chExt cx="3828692" cy="432478"/>
          </a:xfrm>
        </p:grpSpPr>
        <p:sp>
          <p:nvSpPr>
            <p:cNvPr id="218" name="Google Shape;218;p19"/>
            <p:cNvSpPr/>
            <p:nvPr/>
          </p:nvSpPr>
          <p:spPr>
            <a:xfrm>
              <a:off x="3957461" y="33655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4499099" y="3363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5046915" y="3367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5605029" y="3369688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6152845" y="3367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6970454" y="3363513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0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3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24" name="Google Shape;2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" y="317573"/>
            <a:ext cx="3560276" cy="9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2039166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to 5-i-2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</a:t>
            </a: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0 -&gt; 0 to 3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0 to 2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0 to 1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0 to 0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167950" y="1462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574175"/>
                <a:gridCol w="574175"/>
                <a:gridCol w="574175"/>
                <a:gridCol w="574175"/>
                <a:gridCol w="574175"/>
              </a:tblGrid>
              <a:tr h="22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step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j+1 ]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1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905975" y="317570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25</a:t>
            </a:r>
            <a:endParaRPr b="1" sz="1000"/>
          </a:p>
        </p:txBody>
      </p:sp>
      <p:sp>
        <p:nvSpPr>
          <p:cNvPr id="238" name="Google Shape;238;p20"/>
          <p:cNvSpPr/>
          <p:nvPr/>
        </p:nvSpPr>
        <p:spPr>
          <a:xfrm>
            <a:off x="4447613" y="315510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12</a:t>
            </a:r>
            <a:endParaRPr b="1" sz="1000"/>
          </a:p>
        </p:txBody>
      </p:sp>
      <p:sp>
        <p:nvSpPr>
          <p:cNvPr id="239" name="Google Shape;239;p20"/>
          <p:cNvSpPr/>
          <p:nvPr/>
        </p:nvSpPr>
        <p:spPr>
          <a:xfrm>
            <a:off x="4995429" y="319629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22</a:t>
            </a:r>
            <a:endParaRPr b="1" sz="1000"/>
          </a:p>
        </p:txBody>
      </p:sp>
      <p:sp>
        <p:nvSpPr>
          <p:cNvPr id="240" name="Google Shape;240;p20"/>
          <p:cNvSpPr/>
          <p:nvPr/>
        </p:nvSpPr>
        <p:spPr>
          <a:xfrm>
            <a:off x="5553542" y="321689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11</a:t>
            </a:r>
            <a:endParaRPr b="1" sz="1000"/>
          </a:p>
        </p:txBody>
      </p:sp>
      <p:sp>
        <p:nvSpPr>
          <p:cNvPr id="241" name="Google Shape;241;p20"/>
          <p:cNvSpPr/>
          <p:nvPr/>
        </p:nvSpPr>
        <p:spPr>
          <a:xfrm>
            <a:off x="6101358" y="319629"/>
            <a:ext cx="494400" cy="4263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64</a:t>
            </a:r>
            <a:endParaRPr b="1" sz="1000"/>
          </a:p>
        </p:txBody>
      </p:sp>
      <p:grpSp>
        <p:nvGrpSpPr>
          <p:cNvPr id="242" name="Google Shape;242;p20"/>
          <p:cNvGrpSpPr/>
          <p:nvPr/>
        </p:nvGrpSpPr>
        <p:grpSpPr>
          <a:xfrm>
            <a:off x="3850375" y="768595"/>
            <a:ext cx="2749502" cy="506700"/>
            <a:chOff x="3850375" y="768595"/>
            <a:chExt cx="2749502" cy="506700"/>
          </a:xfrm>
        </p:grpSpPr>
        <p:sp>
          <p:nvSpPr>
            <p:cNvPr id="243" name="Google Shape;243;p20"/>
            <p:cNvSpPr/>
            <p:nvPr/>
          </p:nvSpPr>
          <p:spPr>
            <a:xfrm>
              <a:off x="3850375" y="76859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3910094" y="80978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451732" y="80772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999548" y="81184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557661" y="81389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105477" y="81184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6908670" y="373178"/>
            <a:ext cx="815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</a:t>
            </a:r>
            <a:r>
              <a:rPr b="1" lang="en" sz="1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</a:t>
            </a:r>
            <a:endParaRPr b="1" sz="10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0" name="Google Shape;250;p20"/>
          <p:cNvGrpSpPr/>
          <p:nvPr/>
        </p:nvGrpSpPr>
        <p:grpSpPr>
          <a:xfrm>
            <a:off x="3926570" y="1718005"/>
            <a:ext cx="2689784" cy="506700"/>
            <a:chOff x="3926570" y="1718005"/>
            <a:chExt cx="2689784" cy="506700"/>
          </a:xfrm>
        </p:grpSpPr>
        <p:sp>
          <p:nvSpPr>
            <p:cNvPr id="251" name="Google Shape;251;p20"/>
            <p:cNvSpPr/>
            <p:nvPr/>
          </p:nvSpPr>
          <p:spPr>
            <a:xfrm>
              <a:off x="4441440" y="171800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3926570" y="174683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4468207" y="174477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016023" y="17488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5574137" y="17509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6121953" y="174889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257" name="Google Shape;257;p20"/>
          <p:cNvGrpSpPr/>
          <p:nvPr/>
        </p:nvGrpSpPr>
        <p:grpSpPr>
          <a:xfrm>
            <a:off x="3953343" y="2807459"/>
            <a:ext cx="2689784" cy="506700"/>
            <a:chOff x="3953343" y="2807459"/>
            <a:chExt cx="2689784" cy="506700"/>
          </a:xfrm>
        </p:grpSpPr>
        <p:sp>
          <p:nvSpPr>
            <p:cNvPr id="258" name="Google Shape;258;p20"/>
            <p:cNvSpPr/>
            <p:nvPr/>
          </p:nvSpPr>
          <p:spPr>
            <a:xfrm>
              <a:off x="5018088" y="2807459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3953343" y="283628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4494980" y="28342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504279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600910" y="284040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148726" y="283834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3957461" y="3363510"/>
            <a:ext cx="2689784" cy="432478"/>
            <a:chOff x="3957461" y="3363510"/>
            <a:chExt cx="2689784" cy="432478"/>
          </a:xfrm>
        </p:grpSpPr>
        <p:sp>
          <p:nvSpPr>
            <p:cNvPr id="265" name="Google Shape;265;p20"/>
            <p:cNvSpPr/>
            <p:nvPr/>
          </p:nvSpPr>
          <p:spPr>
            <a:xfrm>
              <a:off x="3957461" y="33655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4499099" y="3363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5046915" y="3367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5605029" y="3369688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6152845" y="336762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270" name="Google Shape;270;p20"/>
          <p:cNvGrpSpPr/>
          <p:nvPr/>
        </p:nvGrpSpPr>
        <p:grpSpPr>
          <a:xfrm>
            <a:off x="3973937" y="3880434"/>
            <a:ext cx="2689784" cy="432478"/>
            <a:chOff x="3973937" y="3880434"/>
            <a:chExt cx="2689784" cy="432478"/>
          </a:xfrm>
        </p:grpSpPr>
        <p:sp>
          <p:nvSpPr>
            <p:cNvPr id="271" name="Google Shape;271;p20"/>
            <p:cNvSpPr/>
            <p:nvPr/>
          </p:nvSpPr>
          <p:spPr>
            <a:xfrm>
              <a:off x="3973937" y="38824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4515575" y="388043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5063391" y="38845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5621505" y="388661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6169321" y="388455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276" name="Google Shape;276;p20"/>
          <p:cNvGrpSpPr/>
          <p:nvPr/>
        </p:nvGrpSpPr>
        <p:grpSpPr>
          <a:xfrm>
            <a:off x="3932748" y="1275218"/>
            <a:ext cx="3836930" cy="432478"/>
            <a:chOff x="3932748" y="1275218"/>
            <a:chExt cx="3836930" cy="432478"/>
          </a:xfrm>
        </p:grpSpPr>
        <p:sp>
          <p:nvSpPr>
            <p:cNvPr id="277" name="Google Shape;277;p20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6953978" y="1363778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1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1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3" name="Google Shape;283;p20"/>
          <p:cNvGrpSpPr/>
          <p:nvPr/>
        </p:nvGrpSpPr>
        <p:grpSpPr>
          <a:xfrm>
            <a:off x="3930688" y="2292591"/>
            <a:ext cx="3847227" cy="432478"/>
            <a:chOff x="3930688" y="2292591"/>
            <a:chExt cx="3847227" cy="432478"/>
          </a:xfrm>
        </p:grpSpPr>
        <p:sp>
          <p:nvSpPr>
            <p:cNvPr id="284" name="Google Shape;284;p20"/>
            <p:cNvSpPr/>
            <p:nvPr/>
          </p:nvSpPr>
          <p:spPr>
            <a:xfrm>
              <a:off x="3930688" y="229465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4472326" y="22925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5020142" y="2296710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5578256" y="22987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6126072" y="229671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6962216" y="2360556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2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2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90" name="Google Shape;2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" y="317573"/>
            <a:ext cx="3560276" cy="9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 txBox="1"/>
          <p:nvPr/>
        </p:nvSpPr>
        <p:spPr>
          <a:xfrm>
            <a:off x="2015919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to 5-i-2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0 to 3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0 to 2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0 to 1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0 to 0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2" name="Google Shape;292;p20"/>
          <p:cNvGraphicFramePr/>
          <p:nvPr/>
        </p:nvGraphicFramePr>
        <p:xfrm>
          <a:off x="168682" y="1522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27875"/>
                <a:gridCol w="427875"/>
                <a:gridCol w="427875"/>
                <a:gridCol w="514475"/>
                <a:gridCol w="55840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Idx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j+1 ]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7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1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3" name="Google Shape;303;p21"/>
          <p:cNvGrpSpPr/>
          <p:nvPr/>
        </p:nvGrpSpPr>
        <p:grpSpPr>
          <a:xfrm>
            <a:off x="3850375" y="768595"/>
            <a:ext cx="2749502" cy="506700"/>
            <a:chOff x="3850375" y="768595"/>
            <a:chExt cx="2749502" cy="506700"/>
          </a:xfrm>
        </p:grpSpPr>
        <p:sp>
          <p:nvSpPr>
            <p:cNvPr id="304" name="Google Shape;304;p21"/>
            <p:cNvSpPr/>
            <p:nvPr/>
          </p:nvSpPr>
          <p:spPr>
            <a:xfrm>
              <a:off x="3850375" y="76859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910094" y="80978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4451732" y="80772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4999548" y="81184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5557661" y="81389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6105477" y="81184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310" name="Google Shape;310;p21"/>
          <p:cNvGrpSpPr/>
          <p:nvPr/>
        </p:nvGrpSpPr>
        <p:grpSpPr>
          <a:xfrm>
            <a:off x="3905975" y="315510"/>
            <a:ext cx="3818395" cy="432478"/>
            <a:chOff x="3905975" y="315510"/>
            <a:chExt cx="3818395" cy="432478"/>
          </a:xfrm>
        </p:grpSpPr>
        <p:sp>
          <p:nvSpPr>
            <p:cNvPr id="311" name="Google Shape;311;p21"/>
            <p:cNvSpPr/>
            <p:nvPr/>
          </p:nvSpPr>
          <p:spPr>
            <a:xfrm>
              <a:off x="3905975" y="31757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4447613" y="315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4995429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5553542" y="32168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6101358" y="31962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6908670" y="373178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2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0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7" name="Google Shape;317;p21"/>
          <p:cNvGrpSpPr/>
          <p:nvPr/>
        </p:nvGrpSpPr>
        <p:grpSpPr>
          <a:xfrm>
            <a:off x="3926570" y="1718005"/>
            <a:ext cx="2689784" cy="506700"/>
            <a:chOff x="3926570" y="1718005"/>
            <a:chExt cx="2689784" cy="506700"/>
          </a:xfrm>
        </p:grpSpPr>
        <p:sp>
          <p:nvSpPr>
            <p:cNvPr id="318" name="Google Shape;318;p21"/>
            <p:cNvSpPr/>
            <p:nvPr/>
          </p:nvSpPr>
          <p:spPr>
            <a:xfrm>
              <a:off x="4441440" y="1718005"/>
              <a:ext cx="1118400" cy="506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3926570" y="174683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4468207" y="174477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5016023" y="174889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5574137" y="175095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6121953" y="174889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3930688" y="2292591"/>
            <a:ext cx="2689784" cy="432478"/>
            <a:chOff x="3930688" y="2292591"/>
            <a:chExt cx="2689784" cy="432478"/>
          </a:xfrm>
        </p:grpSpPr>
        <p:sp>
          <p:nvSpPr>
            <p:cNvPr id="325" name="Google Shape;325;p21"/>
            <p:cNvSpPr/>
            <p:nvPr/>
          </p:nvSpPr>
          <p:spPr>
            <a:xfrm>
              <a:off x="3930688" y="229465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4472326" y="22925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5020142" y="2296710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5578256" y="229876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6126072" y="229671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330" name="Google Shape;330;p21"/>
          <p:cNvGrpSpPr/>
          <p:nvPr/>
        </p:nvGrpSpPr>
        <p:grpSpPr>
          <a:xfrm>
            <a:off x="3953343" y="2834229"/>
            <a:ext cx="2689784" cy="432478"/>
            <a:chOff x="3953343" y="2834229"/>
            <a:chExt cx="2689784" cy="432478"/>
          </a:xfrm>
        </p:grpSpPr>
        <p:sp>
          <p:nvSpPr>
            <p:cNvPr id="331" name="Google Shape;331;p21"/>
            <p:cNvSpPr/>
            <p:nvPr/>
          </p:nvSpPr>
          <p:spPr>
            <a:xfrm>
              <a:off x="3953343" y="283628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4494980" y="28342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042796" y="283834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5600910" y="284040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6148726" y="283834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336" name="Google Shape;336;p21"/>
          <p:cNvGrpSpPr/>
          <p:nvPr/>
        </p:nvGrpSpPr>
        <p:grpSpPr>
          <a:xfrm>
            <a:off x="3932748" y="1275218"/>
            <a:ext cx="3836930" cy="432478"/>
            <a:chOff x="3932748" y="1275218"/>
            <a:chExt cx="3836930" cy="432478"/>
          </a:xfrm>
        </p:grpSpPr>
        <p:sp>
          <p:nvSpPr>
            <p:cNvPr id="337" name="Google Shape;337;p21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6953978" y="1363778"/>
              <a:ext cx="815700" cy="2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2</a:t>
              </a:r>
              <a:r>
                <a:rPr b="1" lang="en" sz="10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b="1" lang="en" sz="1000">
                  <a:solidFill>
                    <a:srgbClr val="66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1 </a:t>
              </a:r>
              <a:endParaRPr b="1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43" name="Google Shape;3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" y="317573"/>
            <a:ext cx="3560276" cy="9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 txBox="1"/>
          <p:nvPr/>
        </p:nvSpPr>
        <p:spPr>
          <a:xfrm>
            <a:off x="2062414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to 5-i-2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0 to 3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0 to 2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0 to 1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0 to 0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5" name="Google Shape;345;p21"/>
          <p:cNvGraphicFramePr/>
          <p:nvPr/>
        </p:nvGraphicFramePr>
        <p:xfrm>
          <a:off x="168682" y="1522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27875"/>
                <a:gridCol w="427875"/>
                <a:gridCol w="427875"/>
                <a:gridCol w="514475"/>
                <a:gridCol w="55840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Idx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j+1 ]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7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8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9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3905975" y="317570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12</a:t>
            </a:r>
            <a:endParaRPr b="1" sz="1000"/>
          </a:p>
        </p:txBody>
      </p:sp>
      <p:sp>
        <p:nvSpPr>
          <p:cNvPr id="357" name="Google Shape;357;p22"/>
          <p:cNvSpPr/>
          <p:nvPr/>
        </p:nvSpPr>
        <p:spPr>
          <a:xfrm>
            <a:off x="4447613" y="315510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11</a:t>
            </a:r>
            <a:endParaRPr b="1" sz="1000"/>
          </a:p>
        </p:txBody>
      </p:sp>
      <p:sp>
        <p:nvSpPr>
          <p:cNvPr id="358" name="Google Shape;358;p22"/>
          <p:cNvSpPr/>
          <p:nvPr/>
        </p:nvSpPr>
        <p:spPr>
          <a:xfrm>
            <a:off x="4995429" y="319629"/>
            <a:ext cx="494400" cy="4263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22</a:t>
            </a:r>
            <a:endParaRPr b="1" sz="1000"/>
          </a:p>
        </p:txBody>
      </p:sp>
      <p:sp>
        <p:nvSpPr>
          <p:cNvPr id="359" name="Google Shape;359;p22"/>
          <p:cNvSpPr/>
          <p:nvPr/>
        </p:nvSpPr>
        <p:spPr>
          <a:xfrm>
            <a:off x="5553542" y="321689"/>
            <a:ext cx="494400" cy="4263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25</a:t>
            </a:r>
            <a:endParaRPr b="1" sz="1000"/>
          </a:p>
        </p:txBody>
      </p:sp>
      <p:sp>
        <p:nvSpPr>
          <p:cNvPr id="360" name="Google Shape;360;p22"/>
          <p:cNvSpPr/>
          <p:nvPr/>
        </p:nvSpPr>
        <p:spPr>
          <a:xfrm>
            <a:off x="6101358" y="319629"/>
            <a:ext cx="494400" cy="4263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64</a:t>
            </a:r>
            <a:endParaRPr b="1" sz="1000"/>
          </a:p>
        </p:txBody>
      </p:sp>
      <p:grpSp>
        <p:nvGrpSpPr>
          <p:cNvPr id="361" name="Google Shape;361;p22"/>
          <p:cNvGrpSpPr/>
          <p:nvPr/>
        </p:nvGrpSpPr>
        <p:grpSpPr>
          <a:xfrm>
            <a:off x="3850375" y="802559"/>
            <a:ext cx="2749502" cy="448200"/>
            <a:chOff x="3850375" y="802559"/>
            <a:chExt cx="2749502" cy="448200"/>
          </a:xfrm>
        </p:grpSpPr>
        <p:sp>
          <p:nvSpPr>
            <p:cNvPr id="362" name="Google Shape;362;p22"/>
            <p:cNvSpPr/>
            <p:nvPr/>
          </p:nvSpPr>
          <p:spPr>
            <a:xfrm>
              <a:off x="3850375" y="802559"/>
              <a:ext cx="1118400" cy="4482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3910094" y="80978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451732" y="80772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4999548" y="81184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5557661" y="81389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6105477" y="81184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368" name="Google Shape;368;p22"/>
          <p:cNvGrpSpPr/>
          <p:nvPr/>
        </p:nvGrpSpPr>
        <p:grpSpPr>
          <a:xfrm>
            <a:off x="3932748" y="1275218"/>
            <a:ext cx="2689784" cy="432478"/>
            <a:chOff x="3932748" y="1275218"/>
            <a:chExt cx="2689784" cy="432478"/>
          </a:xfrm>
        </p:grpSpPr>
        <p:sp>
          <p:nvSpPr>
            <p:cNvPr id="369" name="Google Shape;369;p22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sp>
        <p:nvSpPr>
          <p:cNvPr id="374" name="Google Shape;374;p22"/>
          <p:cNvSpPr txBox="1"/>
          <p:nvPr/>
        </p:nvSpPr>
        <p:spPr>
          <a:xfrm>
            <a:off x="6908670" y="373178"/>
            <a:ext cx="815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3</a:t>
            </a:r>
            <a:r>
              <a:rPr b="1" lang="en" sz="1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 sz="10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</a:t>
            </a:r>
            <a:endParaRPr b="1" sz="10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5" name="Google Shape;375;p22"/>
          <p:cNvGrpSpPr/>
          <p:nvPr/>
        </p:nvGrpSpPr>
        <p:grpSpPr>
          <a:xfrm>
            <a:off x="3926570" y="1721527"/>
            <a:ext cx="2689784" cy="432478"/>
            <a:chOff x="3926570" y="1721527"/>
            <a:chExt cx="2689784" cy="432478"/>
          </a:xfrm>
        </p:grpSpPr>
        <p:sp>
          <p:nvSpPr>
            <p:cNvPr id="376" name="Google Shape;376;p22"/>
            <p:cNvSpPr/>
            <p:nvPr/>
          </p:nvSpPr>
          <p:spPr>
            <a:xfrm>
              <a:off x="3926570" y="172358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4468207" y="172152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5016023" y="172564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5574137" y="172770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6121953" y="172564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pic>
        <p:nvPicPr>
          <p:cNvPr id="381" name="Google Shape;3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" y="317573"/>
            <a:ext cx="3560276" cy="9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/>
        </p:nvSpPr>
        <p:spPr>
          <a:xfrm>
            <a:off x="2023668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0 to 5-i-2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0 to 3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0 to 2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0 to 1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0 to 0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3" name="Google Shape;383;p22"/>
          <p:cNvGraphicFramePr/>
          <p:nvPr/>
        </p:nvGraphicFramePr>
        <p:xfrm>
          <a:off x="168682" y="1522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27875"/>
                <a:gridCol w="427875"/>
                <a:gridCol w="427875"/>
                <a:gridCol w="514475"/>
                <a:gridCol w="55840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Idx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j+1 ]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7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35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8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9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  <a:tr h="25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384" name="Google Shape;384;p22"/>
          <p:cNvGrpSpPr/>
          <p:nvPr/>
        </p:nvGrpSpPr>
        <p:grpSpPr>
          <a:xfrm>
            <a:off x="2816279" y="3369514"/>
            <a:ext cx="5928508" cy="446197"/>
            <a:chOff x="2816279" y="3369514"/>
            <a:chExt cx="5928508" cy="446197"/>
          </a:xfrm>
        </p:grpSpPr>
        <p:sp>
          <p:nvSpPr>
            <p:cNvPr id="385" name="Google Shape;385;p22"/>
            <p:cNvSpPr/>
            <p:nvPr/>
          </p:nvSpPr>
          <p:spPr>
            <a:xfrm>
              <a:off x="6055003" y="337157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6596641" y="336951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144457" y="337363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702571" y="337569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8250387" y="337363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2816279" y="33852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3357917" y="338323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3905733" y="33873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4463847" y="33894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5011663" y="33873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5599338" y="3464874"/>
              <a:ext cx="362400" cy="251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rgbClr val="2021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22"/>
          <p:cNvGrpSpPr/>
          <p:nvPr/>
        </p:nvGrpSpPr>
        <p:grpSpPr>
          <a:xfrm>
            <a:off x="3939485" y="2183894"/>
            <a:ext cx="2689784" cy="432478"/>
            <a:chOff x="3939485" y="2183894"/>
            <a:chExt cx="2689784" cy="432478"/>
          </a:xfrm>
        </p:grpSpPr>
        <p:sp>
          <p:nvSpPr>
            <p:cNvPr id="397" name="Google Shape;397;p22"/>
            <p:cNvSpPr/>
            <p:nvPr/>
          </p:nvSpPr>
          <p:spPr>
            <a:xfrm>
              <a:off x="3939485" y="218595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4481123" y="218389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5028939" y="218801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5587052" y="219007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6134868" y="218801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150" y="741375"/>
            <a:ext cx="8784000" cy="3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):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O(1)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In-place sorting.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comparisons is fixed &gt;= the number of exchange.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data's initial order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does not affect the algorithm performance.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23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3" name="Google Shape;4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902" y="741376"/>
            <a:ext cx="4786950" cy="12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755000" y="819775"/>
            <a:ext cx="70185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simplest sorting algorithms that works by repeatedly selecting the smallest remaining item.</a:t>
            </a:r>
            <a:endParaRPr sz="1100">
              <a:solidFill>
                <a:schemeClr val="dk1"/>
              </a:solidFill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smallest element is selected and placed in the beginning.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24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150" y="286400"/>
            <a:ext cx="33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Sorting, Selection Sort: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25" name="Google Shape;425;p24"/>
          <p:cNvGrpSpPr/>
          <p:nvPr/>
        </p:nvGrpSpPr>
        <p:grpSpPr>
          <a:xfrm>
            <a:off x="3041005" y="1965137"/>
            <a:ext cx="2689784" cy="432478"/>
            <a:chOff x="3041005" y="1965137"/>
            <a:chExt cx="2689784" cy="432478"/>
          </a:xfrm>
        </p:grpSpPr>
        <p:sp>
          <p:nvSpPr>
            <p:cNvPr id="426" name="Google Shape;426;p24"/>
            <p:cNvSpPr/>
            <p:nvPr/>
          </p:nvSpPr>
          <p:spPr>
            <a:xfrm>
              <a:off x="3041005" y="19671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3582642" y="19651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4130459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4688572" y="197131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5236388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431" name="Google Shape;431;p24"/>
          <p:cNvGrpSpPr/>
          <p:nvPr/>
        </p:nvGrpSpPr>
        <p:grpSpPr>
          <a:xfrm>
            <a:off x="3057480" y="2543845"/>
            <a:ext cx="2689784" cy="432478"/>
            <a:chOff x="3057480" y="2543845"/>
            <a:chExt cx="2689784" cy="432478"/>
          </a:xfrm>
        </p:grpSpPr>
        <p:sp>
          <p:nvSpPr>
            <p:cNvPr id="432" name="Google Shape;432;p24"/>
            <p:cNvSpPr/>
            <p:nvPr/>
          </p:nvSpPr>
          <p:spPr>
            <a:xfrm>
              <a:off x="3057480" y="2545905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3599118" y="254384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4146934" y="25479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4705048" y="255002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5252864" y="25479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437" name="Google Shape;437;p24"/>
          <p:cNvGrpSpPr/>
          <p:nvPr/>
        </p:nvGrpSpPr>
        <p:grpSpPr>
          <a:xfrm>
            <a:off x="3061599" y="3054591"/>
            <a:ext cx="2689784" cy="432478"/>
            <a:chOff x="3061599" y="3054591"/>
            <a:chExt cx="2689784" cy="432478"/>
          </a:xfrm>
        </p:grpSpPr>
        <p:sp>
          <p:nvSpPr>
            <p:cNvPr id="438" name="Google Shape;438;p24"/>
            <p:cNvSpPr/>
            <p:nvPr/>
          </p:nvSpPr>
          <p:spPr>
            <a:xfrm>
              <a:off x="3061599" y="30566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3603237" y="3054591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4151053" y="30587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4709167" y="30607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5256983" y="30587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443" name="Google Shape;443;p24"/>
          <p:cNvGrpSpPr/>
          <p:nvPr/>
        </p:nvGrpSpPr>
        <p:grpSpPr>
          <a:xfrm>
            <a:off x="3078075" y="3540623"/>
            <a:ext cx="2689784" cy="432478"/>
            <a:chOff x="3078075" y="3540623"/>
            <a:chExt cx="2689784" cy="432478"/>
          </a:xfrm>
        </p:grpSpPr>
        <p:sp>
          <p:nvSpPr>
            <p:cNvPr id="444" name="Google Shape;444;p24"/>
            <p:cNvSpPr/>
            <p:nvPr/>
          </p:nvSpPr>
          <p:spPr>
            <a:xfrm>
              <a:off x="3078075" y="354268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3619713" y="354062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4167529" y="3544742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4725642" y="354680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5273458" y="354474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449" name="Google Shape;449;p24"/>
          <p:cNvGrpSpPr/>
          <p:nvPr/>
        </p:nvGrpSpPr>
        <p:grpSpPr>
          <a:xfrm>
            <a:off x="3088372" y="4020477"/>
            <a:ext cx="2689784" cy="432478"/>
            <a:chOff x="3088372" y="4020477"/>
            <a:chExt cx="2689784" cy="432478"/>
          </a:xfrm>
        </p:grpSpPr>
        <p:sp>
          <p:nvSpPr>
            <p:cNvPr id="450" name="Google Shape;450;p24"/>
            <p:cNvSpPr/>
            <p:nvPr/>
          </p:nvSpPr>
          <p:spPr>
            <a:xfrm>
              <a:off x="3088372" y="40225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3630010" y="402047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4177826" y="402459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4735940" y="4026656"/>
              <a:ext cx="494400" cy="4263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5283756" y="402459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00" y="329799"/>
            <a:ext cx="1613937" cy="11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5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6" name="Google Shape;466;p25"/>
          <p:cNvGrpSpPr/>
          <p:nvPr/>
        </p:nvGrpSpPr>
        <p:grpSpPr>
          <a:xfrm>
            <a:off x="3905975" y="315510"/>
            <a:ext cx="2689784" cy="432478"/>
            <a:chOff x="3905975" y="315510"/>
            <a:chExt cx="2689784" cy="432478"/>
          </a:xfrm>
        </p:grpSpPr>
        <p:sp>
          <p:nvSpPr>
            <p:cNvPr id="467" name="Google Shape;467;p25"/>
            <p:cNvSpPr/>
            <p:nvPr/>
          </p:nvSpPr>
          <p:spPr>
            <a:xfrm>
              <a:off x="3905975" y="31757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4447613" y="315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4995429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5553542" y="32168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6101358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472" name="Google Shape;472;p25"/>
          <p:cNvGrpSpPr/>
          <p:nvPr/>
        </p:nvGrpSpPr>
        <p:grpSpPr>
          <a:xfrm>
            <a:off x="3953343" y="2834229"/>
            <a:ext cx="2689784" cy="432478"/>
            <a:chOff x="3953343" y="2834229"/>
            <a:chExt cx="2689784" cy="432478"/>
          </a:xfrm>
        </p:grpSpPr>
        <p:sp>
          <p:nvSpPr>
            <p:cNvPr id="473" name="Google Shape;473;p25"/>
            <p:cNvSpPr/>
            <p:nvPr/>
          </p:nvSpPr>
          <p:spPr>
            <a:xfrm>
              <a:off x="3953343" y="2836288"/>
              <a:ext cx="494400" cy="426300"/>
            </a:xfrm>
            <a:prstGeom prst="ellipse">
              <a:avLst/>
            </a:prstGeom>
            <a:solidFill>
              <a:srgbClr val="E6B8A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4494980" y="28342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504279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5600910" y="284040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6148726" y="2838348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sp>
        <p:nvSpPr>
          <p:cNvPr id="478" name="Google Shape;478;p25"/>
          <p:cNvSpPr txBox="1"/>
          <p:nvPr/>
        </p:nvSpPr>
        <p:spPr>
          <a:xfrm>
            <a:off x="2039166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i+1 to 4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1 to 4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2 to 4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3 to 4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4 to 4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9" name="Google Shape;479;p25"/>
          <p:cNvGraphicFramePr/>
          <p:nvPr/>
        </p:nvGraphicFramePr>
        <p:xfrm>
          <a:off x="167950" y="1462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78475"/>
                <a:gridCol w="382850"/>
                <a:gridCol w="382850"/>
                <a:gridCol w="382850"/>
                <a:gridCol w="437875"/>
                <a:gridCol w="484675"/>
              </a:tblGrid>
              <a:tr h="22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step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</a:t>
                      </a:r>
                      <a:endParaRPr b="1"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[m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80" name="Google Shape;480;p25"/>
          <p:cNvGrpSpPr/>
          <p:nvPr/>
        </p:nvGrpSpPr>
        <p:grpSpPr>
          <a:xfrm>
            <a:off x="3910094" y="807721"/>
            <a:ext cx="4999430" cy="432478"/>
            <a:chOff x="3910094" y="807721"/>
            <a:chExt cx="4999430" cy="432478"/>
          </a:xfrm>
        </p:grpSpPr>
        <p:grpSp>
          <p:nvGrpSpPr>
            <p:cNvPr id="481" name="Google Shape;481;p25"/>
            <p:cNvGrpSpPr/>
            <p:nvPr/>
          </p:nvGrpSpPr>
          <p:grpSpPr>
            <a:xfrm>
              <a:off x="3910094" y="807721"/>
              <a:ext cx="2689784" cy="432478"/>
              <a:chOff x="3910094" y="807721"/>
              <a:chExt cx="2689784" cy="432478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3910094" y="809780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4451732" y="807721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grpSp>
            <p:nvGrpSpPr>
              <p:cNvPr id="484" name="Google Shape;484;p25"/>
              <p:cNvGrpSpPr/>
              <p:nvPr/>
            </p:nvGrpSpPr>
            <p:grpSpPr>
              <a:xfrm>
                <a:off x="4999548" y="811840"/>
                <a:ext cx="1600330" cy="428359"/>
                <a:chOff x="4999548" y="811840"/>
                <a:chExt cx="1600330" cy="428359"/>
              </a:xfrm>
            </p:grpSpPr>
            <p:sp>
              <p:nvSpPr>
                <p:cNvPr id="485" name="Google Shape;485;p25"/>
                <p:cNvSpPr/>
                <p:nvPr/>
              </p:nvSpPr>
              <p:spPr>
                <a:xfrm>
                  <a:off x="4999548" y="811840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12</a:t>
                  </a:r>
                  <a:endParaRPr b="1" sz="1000"/>
                </a:p>
              </p:txBody>
            </p:sp>
            <p:sp>
              <p:nvSpPr>
                <p:cNvPr id="486" name="Google Shape;486;p25"/>
                <p:cNvSpPr/>
                <p:nvPr/>
              </p:nvSpPr>
              <p:spPr>
                <a:xfrm>
                  <a:off x="5557661" y="813899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22</a:t>
                  </a:r>
                  <a:endParaRPr b="1" sz="1000"/>
                </a:p>
              </p:txBody>
            </p:sp>
            <p:sp>
              <p:nvSpPr>
                <p:cNvPr id="487" name="Google Shape;487;p25"/>
                <p:cNvSpPr/>
                <p:nvPr/>
              </p:nvSpPr>
              <p:spPr>
                <a:xfrm>
                  <a:off x="6105477" y="811840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11</a:t>
                  </a:r>
                  <a:endParaRPr b="1" sz="1000"/>
                </a:p>
              </p:txBody>
            </p:sp>
          </p:grpSp>
        </p:grpSp>
        <p:sp>
          <p:nvSpPr>
            <p:cNvPr id="488" name="Google Shape;488;p25"/>
            <p:cNvSpPr txBox="1"/>
            <p:nvPr/>
          </p:nvSpPr>
          <p:spPr>
            <a:xfrm>
              <a:off x="6931324" y="877750"/>
              <a:ext cx="1978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0,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1,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0 -&gt;1 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89" name="Google Shape;489;p25"/>
          <p:cNvGrpSpPr/>
          <p:nvPr/>
        </p:nvGrpSpPr>
        <p:grpSpPr>
          <a:xfrm>
            <a:off x="3932748" y="1275218"/>
            <a:ext cx="4860303" cy="432478"/>
            <a:chOff x="3932748" y="1275218"/>
            <a:chExt cx="4860303" cy="432478"/>
          </a:xfrm>
        </p:grpSpPr>
        <p:grpSp>
          <p:nvGrpSpPr>
            <p:cNvPr id="490" name="Google Shape;490;p25"/>
            <p:cNvGrpSpPr/>
            <p:nvPr/>
          </p:nvGrpSpPr>
          <p:grpSpPr>
            <a:xfrm>
              <a:off x="3932748" y="1275218"/>
              <a:ext cx="2689784" cy="432478"/>
              <a:chOff x="3932748" y="1275218"/>
              <a:chExt cx="2689784" cy="432478"/>
            </a:xfrm>
          </p:grpSpPr>
          <p:sp>
            <p:nvSpPr>
              <p:cNvPr id="491" name="Google Shape;491;p25"/>
              <p:cNvSpPr/>
              <p:nvPr/>
            </p:nvSpPr>
            <p:spPr>
              <a:xfrm>
                <a:off x="3932748" y="1277278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4474386" y="1275218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5022202" y="1279337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5580315" y="128139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>
                <a:off x="6128131" y="127933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</p:grpSp>
        <p:sp>
          <p:nvSpPr>
            <p:cNvPr id="496" name="Google Shape;496;p25"/>
            <p:cNvSpPr txBox="1"/>
            <p:nvPr/>
          </p:nvSpPr>
          <p:spPr>
            <a:xfrm>
              <a:off x="6935450" y="1326700"/>
              <a:ext cx="18576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0,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2,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1 -&gt;2 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7" name="Google Shape;497;p25"/>
          <p:cNvGrpSpPr/>
          <p:nvPr/>
        </p:nvGrpSpPr>
        <p:grpSpPr>
          <a:xfrm>
            <a:off x="3926570" y="1744775"/>
            <a:ext cx="4866505" cy="432478"/>
            <a:chOff x="3926570" y="1744775"/>
            <a:chExt cx="4866505" cy="432478"/>
          </a:xfrm>
        </p:grpSpPr>
        <p:grpSp>
          <p:nvGrpSpPr>
            <p:cNvPr id="498" name="Google Shape;498;p25"/>
            <p:cNvGrpSpPr/>
            <p:nvPr/>
          </p:nvGrpSpPr>
          <p:grpSpPr>
            <a:xfrm>
              <a:off x="3926570" y="1744775"/>
              <a:ext cx="2689784" cy="432478"/>
              <a:chOff x="3926570" y="1744775"/>
              <a:chExt cx="2689784" cy="432478"/>
            </a:xfrm>
          </p:grpSpPr>
          <p:sp>
            <p:nvSpPr>
              <p:cNvPr id="499" name="Google Shape;499;p25"/>
              <p:cNvSpPr/>
              <p:nvPr/>
            </p:nvSpPr>
            <p:spPr>
              <a:xfrm>
                <a:off x="3926570" y="1746834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500" name="Google Shape;500;p25"/>
              <p:cNvSpPr/>
              <p:nvPr/>
            </p:nvSpPr>
            <p:spPr>
              <a:xfrm>
                <a:off x="4468207" y="1744775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501" name="Google Shape;501;p25"/>
              <p:cNvSpPr/>
              <p:nvPr/>
            </p:nvSpPr>
            <p:spPr>
              <a:xfrm>
                <a:off x="5016023" y="1748894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502" name="Google Shape;502;p25"/>
              <p:cNvSpPr/>
              <p:nvPr/>
            </p:nvSpPr>
            <p:spPr>
              <a:xfrm>
                <a:off x="5574137" y="1750953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6121953" y="1748894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</p:grpSp>
        <p:sp>
          <p:nvSpPr>
            <p:cNvPr id="504" name="Google Shape;504;p25"/>
            <p:cNvSpPr txBox="1"/>
            <p:nvPr/>
          </p:nvSpPr>
          <p:spPr>
            <a:xfrm>
              <a:off x="6964274" y="1794200"/>
              <a:ext cx="18288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0,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3,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2 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05" name="Google Shape;505;p25"/>
          <p:cNvGrpSpPr/>
          <p:nvPr/>
        </p:nvGrpSpPr>
        <p:grpSpPr>
          <a:xfrm>
            <a:off x="3930688" y="2292591"/>
            <a:ext cx="4872686" cy="432478"/>
            <a:chOff x="3930688" y="2292591"/>
            <a:chExt cx="4872686" cy="432478"/>
          </a:xfrm>
        </p:grpSpPr>
        <p:grpSp>
          <p:nvGrpSpPr>
            <p:cNvPr id="506" name="Google Shape;506;p25"/>
            <p:cNvGrpSpPr/>
            <p:nvPr/>
          </p:nvGrpSpPr>
          <p:grpSpPr>
            <a:xfrm>
              <a:off x="3930688" y="2292591"/>
              <a:ext cx="2689784" cy="432478"/>
              <a:chOff x="3930688" y="2292591"/>
              <a:chExt cx="2689784" cy="432478"/>
            </a:xfrm>
          </p:grpSpPr>
          <p:sp>
            <p:nvSpPr>
              <p:cNvPr id="507" name="Google Shape;507;p25"/>
              <p:cNvSpPr/>
              <p:nvPr/>
            </p:nvSpPr>
            <p:spPr>
              <a:xfrm>
                <a:off x="3930688" y="2294650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>
                <a:off x="4472326" y="2292591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5020142" y="2296710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>
                <a:off x="5578256" y="2298769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511" name="Google Shape;511;p25"/>
              <p:cNvSpPr/>
              <p:nvPr/>
            </p:nvSpPr>
            <p:spPr>
              <a:xfrm>
                <a:off x="6126072" y="2296710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</p:grpSp>
        <p:sp>
          <p:nvSpPr>
            <p:cNvPr id="512" name="Google Shape;512;p25"/>
            <p:cNvSpPr txBox="1"/>
            <p:nvPr/>
          </p:nvSpPr>
          <p:spPr>
            <a:xfrm>
              <a:off x="6974575" y="2329649"/>
              <a:ext cx="1828800" cy="30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0,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4,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2 -&gt;4 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3" name="Google Shape;513;p25"/>
          <p:cNvGrpSpPr/>
          <p:nvPr/>
        </p:nvGrpSpPr>
        <p:grpSpPr>
          <a:xfrm>
            <a:off x="3963640" y="3351153"/>
            <a:ext cx="2689784" cy="432478"/>
            <a:chOff x="3953343" y="2834229"/>
            <a:chExt cx="2689784" cy="432478"/>
          </a:xfrm>
        </p:grpSpPr>
        <p:sp>
          <p:nvSpPr>
            <p:cNvPr id="514" name="Google Shape;514;p25"/>
            <p:cNvSpPr/>
            <p:nvPr/>
          </p:nvSpPr>
          <p:spPr>
            <a:xfrm>
              <a:off x="3953343" y="283628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15" name="Google Shape;515;p25"/>
            <p:cNvSpPr/>
            <p:nvPr/>
          </p:nvSpPr>
          <p:spPr>
            <a:xfrm>
              <a:off x="4494980" y="28342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16" name="Google Shape;516;p25"/>
            <p:cNvSpPr/>
            <p:nvPr/>
          </p:nvSpPr>
          <p:spPr>
            <a:xfrm>
              <a:off x="504279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5600910" y="284040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18" name="Google Shape;518;p25"/>
            <p:cNvSpPr/>
            <p:nvPr/>
          </p:nvSpPr>
          <p:spPr>
            <a:xfrm>
              <a:off x="614872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6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6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6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528" name="Google Shape;528;p26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9" name="Google Shape;5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00" y="329799"/>
            <a:ext cx="1613937" cy="11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6"/>
          <p:cNvSpPr txBox="1"/>
          <p:nvPr/>
        </p:nvSpPr>
        <p:spPr>
          <a:xfrm>
            <a:off x="2039166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i+1 to 4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1 to 4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2 to 4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3 to 4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4 to 4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1" name="Google Shape;531;p26"/>
          <p:cNvGraphicFramePr/>
          <p:nvPr/>
        </p:nvGraphicFramePr>
        <p:xfrm>
          <a:off x="167950" y="1462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78475"/>
                <a:gridCol w="382850"/>
                <a:gridCol w="382850"/>
                <a:gridCol w="382850"/>
                <a:gridCol w="437875"/>
                <a:gridCol w="484675"/>
              </a:tblGrid>
              <a:tr h="22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step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</a:t>
                      </a:r>
                      <a:endParaRPr b="1"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[m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6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32" name="Google Shape;532;p26"/>
          <p:cNvGrpSpPr/>
          <p:nvPr/>
        </p:nvGrpSpPr>
        <p:grpSpPr>
          <a:xfrm>
            <a:off x="3905975" y="315510"/>
            <a:ext cx="2689784" cy="432478"/>
            <a:chOff x="3905975" y="315510"/>
            <a:chExt cx="2689784" cy="432478"/>
          </a:xfrm>
        </p:grpSpPr>
        <p:sp>
          <p:nvSpPr>
            <p:cNvPr id="533" name="Google Shape;533;p26"/>
            <p:cNvSpPr/>
            <p:nvPr/>
          </p:nvSpPr>
          <p:spPr>
            <a:xfrm>
              <a:off x="3905975" y="31757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4447613" y="3155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4995429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553542" y="32168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6101358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538" name="Google Shape;538;p26"/>
          <p:cNvGrpSpPr/>
          <p:nvPr/>
        </p:nvGrpSpPr>
        <p:grpSpPr>
          <a:xfrm>
            <a:off x="3910094" y="807721"/>
            <a:ext cx="2689784" cy="432478"/>
            <a:chOff x="3910094" y="807721"/>
            <a:chExt cx="2689784" cy="432478"/>
          </a:xfrm>
        </p:grpSpPr>
        <p:sp>
          <p:nvSpPr>
            <p:cNvPr id="539" name="Google Shape;539;p26"/>
            <p:cNvSpPr/>
            <p:nvPr/>
          </p:nvSpPr>
          <p:spPr>
            <a:xfrm>
              <a:off x="3910094" y="80978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4451732" y="807721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grpSp>
          <p:nvGrpSpPr>
            <p:cNvPr id="541" name="Google Shape;541;p26"/>
            <p:cNvGrpSpPr/>
            <p:nvPr/>
          </p:nvGrpSpPr>
          <p:grpSpPr>
            <a:xfrm>
              <a:off x="4999548" y="811840"/>
              <a:ext cx="1600330" cy="428359"/>
              <a:chOff x="4999548" y="811840"/>
              <a:chExt cx="1600330" cy="428359"/>
            </a:xfrm>
          </p:grpSpPr>
          <p:sp>
            <p:nvSpPr>
              <p:cNvPr id="542" name="Google Shape;542;p26"/>
              <p:cNvSpPr/>
              <p:nvPr/>
            </p:nvSpPr>
            <p:spPr>
              <a:xfrm>
                <a:off x="4999548" y="811840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543" name="Google Shape;543;p26"/>
              <p:cNvSpPr/>
              <p:nvPr/>
            </p:nvSpPr>
            <p:spPr>
              <a:xfrm>
                <a:off x="5557661" y="813899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544" name="Google Shape;544;p26"/>
              <p:cNvSpPr/>
              <p:nvPr/>
            </p:nvSpPr>
            <p:spPr>
              <a:xfrm>
                <a:off x="6105477" y="811840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</p:grpSp>
      </p:grpSp>
      <p:grpSp>
        <p:nvGrpSpPr>
          <p:cNvPr id="545" name="Google Shape;545;p26"/>
          <p:cNvGrpSpPr/>
          <p:nvPr/>
        </p:nvGrpSpPr>
        <p:grpSpPr>
          <a:xfrm>
            <a:off x="3926570" y="1744775"/>
            <a:ext cx="2689784" cy="432478"/>
            <a:chOff x="3926570" y="1744775"/>
            <a:chExt cx="2689784" cy="432478"/>
          </a:xfrm>
        </p:grpSpPr>
        <p:sp>
          <p:nvSpPr>
            <p:cNvPr id="546" name="Google Shape;546;p26"/>
            <p:cNvSpPr/>
            <p:nvPr/>
          </p:nvSpPr>
          <p:spPr>
            <a:xfrm>
              <a:off x="3926570" y="174683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4468207" y="1744775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5016023" y="1748894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5574137" y="1750953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6121953" y="1748894"/>
              <a:ext cx="494400" cy="4263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551" name="Google Shape;551;p26"/>
          <p:cNvGrpSpPr/>
          <p:nvPr/>
        </p:nvGrpSpPr>
        <p:grpSpPr>
          <a:xfrm>
            <a:off x="3953343" y="2834229"/>
            <a:ext cx="2689784" cy="432478"/>
            <a:chOff x="3953343" y="2834229"/>
            <a:chExt cx="2689784" cy="432478"/>
          </a:xfrm>
        </p:grpSpPr>
        <p:sp>
          <p:nvSpPr>
            <p:cNvPr id="552" name="Google Shape;552;p26"/>
            <p:cNvSpPr/>
            <p:nvPr/>
          </p:nvSpPr>
          <p:spPr>
            <a:xfrm>
              <a:off x="3953343" y="283628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4494980" y="2834229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504279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5600910" y="284040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6148726" y="283834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557" name="Google Shape;557;p26"/>
          <p:cNvGrpSpPr/>
          <p:nvPr/>
        </p:nvGrpSpPr>
        <p:grpSpPr>
          <a:xfrm>
            <a:off x="3932748" y="1275218"/>
            <a:ext cx="2689784" cy="432478"/>
            <a:chOff x="3932748" y="1275218"/>
            <a:chExt cx="2689784" cy="432478"/>
          </a:xfrm>
        </p:grpSpPr>
        <p:sp>
          <p:nvSpPr>
            <p:cNvPr id="558" name="Google Shape;558;p26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563" name="Google Shape;563;p26"/>
          <p:cNvGrpSpPr/>
          <p:nvPr/>
        </p:nvGrpSpPr>
        <p:grpSpPr>
          <a:xfrm>
            <a:off x="3930688" y="2292591"/>
            <a:ext cx="2689784" cy="432478"/>
            <a:chOff x="3930688" y="2292591"/>
            <a:chExt cx="2689784" cy="432478"/>
          </a:xfrm>
        </p:grpSpPr>
        <p:sp>
          <p:nvSpPr>
            <p:cNvPr id="564" name="Google Shape;564;p26"/>
            <p:cNvSpPr/>
            <p:nvPr/>
          </p:nvSpPr>
          <p:spPr>
            <a:xfrm>
              <a:off x="3930688" y="229465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4472326" y="2292591"/>
              <a:ext cx="494400" cy="426300"/>
            </a:xfrm>
            <a:prstGeom prst="ellipse">
              <a:avLst/>
            </a:prstGeom>
            <a:solidFill>
              <a:srgbClr val="E6B8A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5020142" y="2296710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5578256" y="229876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6126072" y="22967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sp>
        <p:nvSpPr>
          <p:cNvPr id="569" name="Google Shape;569;p26"/>
          <p:cNvSpPr txBox="1"/>
          <p:nvPr/>
        </p:nvSpPr>
        <p:spPr>
          <a:xfrm>
            <a:off x="6931324" y="877750"/>
            <a:ext cx="19782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1, </a:t>
            </a: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2,</a:t>
            </a:r>
            <a:r>
              <a:rPr b="1" lang="en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min_idx = 1 -&gt;2 </a:t>
            </a:r>
            <a:endParaRPr b="1" sz="1000"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26"/>
          <p:cNvSpPr txBox="1"/>
          <p:nvPr/>
        </p:nvSpPr>
        <p:spPr>
          <a:xfrm>
            <a:off x="6935450" y="1326700"/>
            <a:ext cx="1857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1, </a:t>
            </a: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3,</a:t>
            </a:r>
            <a:r>
              <a:rPr b="1" lang="en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min_idx = 2</a:t>
            </a:r>
            <a:endParaRPr b="1" sz="1000"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26"/>
          <p:cNvSpPr txBox="1"/>
          <p:nvPr/>
        </p:nvSpPr>
        <p:spPr>
          <a:xfrm>
            <a:off x="6964274" y="1794200"/>
            <a:ext cx="1828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1, </a:t>
            </a:r>
            <a:r>
              <a:rPr b="1" lang="en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4,</a:t>
            </a:r>
            <a:r>
              <a:rPr b="1" lang="en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min_idx = 2 </a:t>
            </a:r>
            <a:endParaRPr b="1" sz="1000"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7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7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7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581" name="Google Shape;581;p27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2" name="Google Shape;5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00" y="329799"/>
            <a:ext cx="1613937" cy="11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7"/>
          <p:cNvSpPr txBox="1"/>
          <p:nvPr/>
        </p:nvSpPr>
        <p:spPr>
          <a:xfrm>
            <a:off x="2039166" y="329789"/>
            <a:ext cx="1633200" cy="114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5 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0 to 3</a:t>
            </a:r>
            <a:endParaRPr b="1" sz="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= i+1 to 4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0 -&gt; 1 to 4   four times   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1 -&gt; 2 to 4   three times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2 -&gt; 3 to 4   two times 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 = 3 -&gt; 4 to 4   one time  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4+3+2+1 = 10 times</a:t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66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84" name="Google Shape;584;p27"/>
          <p:cNvGraphicFramePr/>
          <p:nvPr/>
        </p:nvGraphicFramePr>
        <p:xfrm>
          <a:off x="167950" y="1462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{7D99D823-F3DF-40B5-8E95-67727D998BD5}</a:tableStyleId>
              </a:tblPr>
              <a:tblGrid>
                <a:gridCol w="478475"/>
                <a:gridCol w="382850"/>
                <a:gridCol w="382850"/>
                <a:gridCol w="382850"/>
                <a:gridCol w="437875"/>
                <a:gridCol w="484675"/>
              </a:tblGrid>
              <a:tr h="22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step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m</a:t>
                      </a:r>
                      <a:endParaRPr b="1" sz="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 j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 [m ]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0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11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5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6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7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12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8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9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2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22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10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3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/>
                        <a:t>4</a:t>
                      </a:r>
                      <a:endParaRPr sz="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3</a:t>
                      </a:r>
                      <a:endParaRPr b="1" sz="5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64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00"/>
                        <a:t>25</a:t>
                      </a:r>
                      <a:endParaRPr b="1" sz="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85" name="Google Shape;585;p27"/>
          <p:cNvGrpSpPr/>
          <p:nvPr/>
        </p:nvGrpSpPr>
        <p:grpSpPr>
          <a:xfrm>
            <a:off x="3905975" y="315510"/>
            <a:ext cx="2689784" cy="432478"/>
            <a:chOff x="3905975" y="315510"/>
            <a:chExt cx="2689784" cy="432478"/>
          </a:xfrm>
        </p:grpSpPr>
        <p:sp>
          <p:nvSpPr>
            <p:cNvPr id="586" name="Google Shape;586;p27"/>
            <p:cNvSpPr/>
            <p:nvPr/>
          </p:nvSpPr>
          <p:spPr>
            <a:xfrm>
              <a:off x="3905975" y="31757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4447613" y="315510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4995429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5553542" y="32168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6101358" y="31962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591" name="Google Shape;591;p27"/>
          <p:cNvGrpSpPr/>
          <p:nvPr/>
        </p:nvGrpSpPr>
        <p:grpSpPr>
          <a:xfrm>
            <a:off x="3910094" y="807721"/>
            <a:ext cx="4999430" cy="432478"/>
            <a:chOff x="3910094" y="807721"/>
            <a:chExt cx="4999430" cy="432478"/>
          </a:xfrm>
        </p:grpSpPr>
        <p:grpSp>
          <p:nvGrpSpPr>
            <p:cNvPr id="592" name="Google Shape;592;p27"/>
            <p:cNvGrpSpPr/>
            <p:nvPr/>
          </p:nvGrpSpPr>
          <p:grpSpPr>
            <a:xfrm>
              <a:off x="3910094" y="807721"/>
              <a:ext cx="2689784" cy="432478"/>
              <a:chOff x="3910094" y="807721"/>
              <a:chExt cx="2689784" cy="432478"/>
            </a:xfrm>
          </p:grpSpPr>
          <p:sp>
            <p:nvSpPr>
              <p:cNvPr id="593" name="Google Shape;593;p27"/>
              <p:cNvSpPr/>
              <p:nvPr/>
            </p:nvSpPr>
            <p:spPr>
              <a:xfrm>
                <a:off x="3910094" y="809780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  <p:sp>
            <p:nvSpPr>
              <p:cNvPr id="594" name="Google Shape;594;p27"/>
              <p:cNvSpPr/>
              <p:nvPr/>
            </p:nvSpPr>
            <p:spPr>
              <a:xfrm>
                <a:off x="4451732" y="807721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grpSp>
            <p:nvGrpSpPr>
              <p:cNvPr id="595" name="Google Shape;595;p27"/>
              <p:cNvGrpSpPr/>
              <p:nvPr/>
            </p:nvGrpSpPr>
            <p:grpSpPr>
              <a:xfrm>
                <a:off x="4999548" y="811840"/>
                <a:ext cx="1600330" cy="428359"/>
                <a:chOff x="4999548" y="811840"/>
                <a:chExt cx="1600330" cy="428359"/>
              </a:xfrm>
            </p:grpSpPr>
            <p:sp>
              <p:nvSpPr>
                <p:cNvPr id="596" name="Google Shape;596;p27"/>
                <p:cNvSpPr/>
                <p:nvPr/>
              </p:nvSpPr>
              <p:spPr>
                <a:xfrm>
                  <a:off x="4999548" y="811840"/>
                  <a:ext cx="494400" cy="426300"/>
                </a:xfrm>
                <a:prstGeom prst="ellipse">
                  <a:avLst/>
                </a:prstGeom>
                <a:solidFill>
                  <a:srgbClr val="FFF2CC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25</a:t>
                  </a:r>
                  <a:endParaRPr b="1" sz="1000"/>
                </a:p>
              </p:txBody>
            </p:sp>
            <p:sp>
              <p:nvSpPr>
                <p:cNvPr id="597" name="Google Shape;597;p27"/>
                <p:cNvSpPr/>
                <p:nvPr/>
              </p:nvSpPr>
              <p:spPr>
                <a:xfrm>
                  <a:off x="5557661" y="813899"/>
                  <a:ext cx="494400" cy="426300"/>
                </a:xfrm>
                <a:prstGeom prst="ellipse">
                  <a:avLst/>
                </a:prstGeom>
                <a:solidFill>
                  <a:srgbClr val="CFE2F3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22</a:t>
                  </a:r>
                  <a:endParaRPr b="1" sz="1000"/>
                </a:p>
              </p:txBody>
            </p:sp>
            <p:sp>
              <p:nvSpPr>
                <p:cNvPr id="598" name="Google Shape;598;p27"/>
                <p:cNvSpPr/>
                <p:nvPr/>
              </p:nvSpPr>
              <p:spPr>
                <a:xfrm>
                  <a:off x="6105477" y="811840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64</a:t>
                  </a:r>
                  <a:endParaRPr b="1" sz="1000"/>
                </a:p>
              </p:txBody>
            </p:sp>
          </p:grpSp>
        </p:grpSp>
        <p:sp>
          <p:nvSpPr>
            <p:cNvPr id="599" name="Google Shape;599;p27"/>
            <p:cNvSpPr txBox="1"/>
            <p:nvPr/>
          </p:nvSpPr>
          <p:spPr>
            <a:xfrm>
              <a:off x="6931324" y="877750"/>
              <a:ext cx="19782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2,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3,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2 -&gt;3 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0" name="Google Shape;600;p27"/>
          <p:cNvGrpSpPr/>
          <p:nvPr/>
        </p:nvGrpSpPr>
        <p:grpSpPr>
          <a:xfrm>
            <a:off x="3932748" y="1275218"/>
            <a:ext cx="4860303" cy="432478"/>
            <a:chOff x="3932748" y="1275218"/>
            <a:chExt cx="4860303" cy="432478"/>
          </a:xfrm>
        </p:grpSpPr>
        <p:grpSp>
          <p:nvGrpSpPr>
            <p:cNvPr id="601" name="Google Shape;601;p27"/>
            <p:cNvGrpSpPr/>
            <p:nvPr/>
          </p:nvGrpSpPr>
          <p:grpSpPr>
            <a:xfrm>
              <a:off x="3932748" y="1275218"/>
              <a:ext cx="2689784" cy="432478"/>
              <a:chOff x="3932748" y="1275218"/>
              <a:chExt cx="2689784" cy="432478"/>
            </a:xfrm>
          </p:grpSpPr>
          <p:sp>
            <p:nvSpPr>
              <p:cNvPr id="602" name="Google Shape;602;p27"/>
              <p:cNvSpPr/>
              <p:nvPr/>
            </p:nvSpPr>
            <p:spPr>
              <a:xfrm>
                <a:off x="3932748" y="1277278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4474386" y="1275218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5022202" y="1279337"/>
                <a:ext cx="494400" cy="4263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5580315" y="1281397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6128131" y="1279337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</p:grpSp>
        <p:sp>
          <p:nvSpPr>
            <p:cNvPr id="607" name="Google Shape;607;p27"/>
            <p:cNvSpPr txBox="1"/>
            <p:nvPr/>
          </p:nvSpPr>
          <p:spPr>
            <a:xfrm>
              <a:off x="6935450" y="1320521"/>
              <a:ext cx="18576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2,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4,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3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8" name="Google Shape;608;p27"/>
          <p:cNvGrpSpPr/>
          <p:nvPr/>
        </p:nvGrpSpPr>
        <p:grpSpPr>
          <a:xfrm>
            <a:off x="3943045" y="1792142"/>
            <a:ext cx="2689784" cy="432478"/>
            <a:chOff x="3932748" y="1275218"/>
            <a:chExt cx="2689784" cy="432478"/>
          </a:xfrm>
        </p:grpSpPr>
        <p:sp>
          <p:nvSpPr>
            <p:cNvPr id="609" name="Google Shape;609;p27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E6B8A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614" name="Google Shape;614;p27"/>
          <p:cNvGrpSpPr/>
          <p:nvPr/>
        </p:nvGrpSpPr>
        <p:grpSpPr>
          <a:xfrm>
            <a:off x="3965699" y="2333780"/>
            <a:ext cx="2689784" cy="432478"/>
            <a:chOff x="3932748" y="1275218"/>
            <a:chExt cx="2689784" cy="432478"/>
          </a:xfrm>
        </p:grpSpPr>
        <p:sp>
          <p:nvSpPr>
            <p:cNvPr id="615" name="Google Shape;615;p27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620" name="Google Shape;620;p27"/>
          <p:cNvGrpSpPr/>
          <p:nvPr/>
        </p:nvGrpSpPr>
        <p:grpSpPr>
          <a:xfrm>
            <a:off x="3957461" y="2856883"/>
            <a:ext cx="4821173" cy="432478"/>
            <a:chOff x="3957461" y="2856883"/>
            <a:chExt cx="4821173" cy="432478"/>
          </a:xfrm>
        </p:grpSpPr>
        <p:grpSp>
          <p:nvGrpSpPr>
            <p:cNvPr id="621" name="Google Shape;621;p27"/>
            <p:cNvGrpSpPr/>
            <p:nvPr/>
          </p:nvGrpSpPr>
          <p:grpSpPr>
            <a:xfrm>
              <a:off x="3957461" y="2856883"/>
              <a:ext cx="2689784" cy="432478"/>
              <a:chOff x="3932748" y="1275218"/>
              <a:chExt cx="2689784" cy="432478"/>
            </a:xfrm>
          </p:grpSpPr>
          <p:sp>
            <p:nvSpPr>
              <p:cNvPr id="622" name="Google Shape;622;p27"/>
              <p:cNvSpPr/>
              <p:nvPr/>
            </p:nvSpPr>
            <p:spPr>
              <a:xfrm>
                <a:off x="3932748" y="1277278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11</a:t>
                </a:r>
                <a:endParaRPr b="1" sz="1000"/>
              </a:p>
            </p:txBody>
          </p:sp>
          <p:sp>
            <p:nvSpPr>
              <p:cNvPr id="623" name="Google Shape;623;p27"/>
              <p:cNvSpPr/>
              <p:nvPr/>
            </p:nvSpPr>
            <p:spPr>
              <a:xfrm>
                <a:off x="4474386" y="1275218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12</a:t>
                </a:r>
                <a:endParaRPr b="1" sz="1000"/>
              </a:p>
            </p:txBody>
          </p:sp>
          <p:sp>
            <p:nvSpPr>
              <p:cNvPr id="624" name="Google Shape;624;p27"/>
              <p:cNvSpPr/>
              <p:nvPr/>
            </p:nvSpPr>
            <p:spPr>
              <a:xfrm>
                <a:off x="5022202" y="1279337"/>
                <a:ext cx="494400" cy="426300"/>
              </a:xfrm>
              <a:prstGeom prst="ellipse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22</a:t>
                </a:r>
                <a:endParaRPr b="1" sz="1000"/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>
                <a:off x="5580315" y="1281397"/>
                <a:ext cx="494400" cy="426300"/>
              </a:xfrm>
              <a:prstGeom prst="ellipse">
                <a:avLst/>
              </a:prstGeom>
              <a:solidFill>
                <a:srgbClr val="FFF2CC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25</a:t>
                </a:r>
                <a:endParaRPr b="1" sz="1000"/>
              </a:p>
            </p:txBody>
          </p:sp>
          <p:sp>
            <p:nvSpPr>
              <p:cNvPr id="626" name="Google Shape;626;p27"/>
              <p:cNvSpPr/>
              <p:nvPr/>
            </p:nvSpPr>
            <p:spPr>
              <a:xfrm>
                <a:off x="6128131" y="1279337"/>
                <a:ext cx="494400" cy="426300"/>
              </a:xfrm>
              <a:prstGeom prst="ellipse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/>
                  <a:t>64</a:t>
                </a:r>
                <a:endParaRPr b="1" sz="1000"/>
              </a:p>
            </p:txBody>
          </p:sp>
        </p:grpSp>
        <p:sp>
          <p:nvSpPr>
            <p:cNvPr id="627" name="Google Shape;627;p27"/>
            <p:cNvSpPr txBox="1"/>
            <p:nvPr/>
          </p:nvSpPr>
          <p:spPr>
            <a:xfrm>
              <a:off x="6921034" y="2949554"/>
              <a:ext cx="18576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= 3, </a:t>
              </a:r>
              <a:r>
                <a:rPr b="1" lang="en" sz="10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 = 4,</a:t>
              </a:r>
              <a:r>
                <a:rPr b="1" lang="en" sz="1000">
                  <a:solidFill>
                    <a:srgbClr val="BF9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min_idx = 3</a:t>
              </a:r>
              <a:endParaRPr b="1" sz="100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28" name="Google Shape;628;p27"/>
          <p:cNvGrpSpPr/>
          <p:nvPr/>
        </p:nvGrpSpPr>
        <p:grpSpPr>
          <a:xfrm>
            <a:off x="3980116" y="3386164"/>
            <a:ext cx="2689784" cy="432478"/>
            <a:chOff x="3932748" y="1275218"/>
            <a:chExt cx="2689784" cy="432478"/>
          </a:xfrm>
        </p:grpSpPr>
        <p:sp>
          <p:nvSpPr>
            <p:cNvPr id="629" name="Google Shape;629;p27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634" name="Google Shape;634;p27"/>
          <p:cNvGrpSpPr/>
          <p:nvPr/>
        </p:nvGrpSpPr>
        <p:grpSpPr>
          <a:xfrm>
            <a:off x="3996591" y="3872196"/>
            <a:ext cx="2689784" cy="432478"/>
            <a:chOff x="3932748" y="1275218"/>
            <a:chExt cx="2689784" cy="432478"/>
          </a:xfrm>
        </p:grpSpPr>
        <p:sp>
          <p:nvSpPr>
            <p:cNvPr id="635" name="Google Shape;635;p27"/>
            <p:cNvSpPr/>
            <p:nvPr/>
          </p:nvSpPr>
          <p:spPr>
            <a:xfrm>
              <a:off x="3932748" y="127727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4474386" y="1275218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5022202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5580315" y="128139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6128131" y="12793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  <p:grpSp>
        <p:nvGrpSpPr>
          <p:cNvPr id="640" name="Google Shape;640;p27"/>
          <p:cNvGrpSpPr/>
          <p:nvPr/>
        </p:nvGrpSpPr>
        <p:grpSpPr>
          <a:xfrm>
            <a:off x="2816279" y="4370411"/>
            <a:ext cx="5928508" cy="446197"/>
            <a:chOff x="2816279" y="3369514"/>
            <a:chExt cx="5928508" cy="446197"/>
          </a:xfrm>
        </p:grpSpPr>
        <p:sp>
          <p:nvSpPr>
            <p:cNvPr id="641" name="Google Shape;641;p27"/>
            <p:cNvSpPr/>
            <p:nvPr/>
          </p:nvSpPr>
          <p:spPr>
            <a:xfrm>
              <a:off x="6055003" y="337157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6596641" y="3369514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7144457" y="337363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7702571" y="3375692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8250387" y="3373633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2816279" y="338529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3357917" y="3383232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3905733" y="33873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4463847" y="338941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5011663" y="3387351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5599338" y="3464874"/>
              <a:ext cx="362400" cy="251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rgbClr val="2021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8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8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150" y="741375"/>
            <a:ext cx="8784000" cy="3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):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O(1)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In-place sorting.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comparisons is fixed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exchange is much smaller than the bubble sort.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O(n) vs O(n</a:t>
            </a:r>
            <a:r>
              <a:rPr baseline="30000"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data's initial order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does not affect the algorithm performance.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28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662" name="Google Shape;662;p28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3" name="Google Shape;6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775" y="652575"/>
            <a:ext cx="2695775" cy="19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9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671721" y="636562"/>
            <a:ext cx="70185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Non-comparative integer sorting algorithm that sorts data with integer keys by grouping the keys by individual digits that share the same significant position and value.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requires known small maximum number of digits.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29"/>
          <p:cNvSpPr txBox="1"/>
          <p:nvPr>
            <p:ph idx="12" type="sldNum"/>
          </p:nvPr>
        </p:nvSpPr>
        <p:spPr>
          <a:xfrm>
            <a:off x="8062031" y="4804315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674" name="Google Shape;674;p29"/>
          <p:cNvSpPr txBox="1"/>
          <p:nvPr/>
        </p:nvSpPr>
        <p:spPr>
          <a:xfrm>
            <a:off x="150" y="286400"/>
            <a:ext cx="33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Sorting, Radix Sort: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5" name="Google Shape;675;p29"/>
          <p:cNvGrpSpPr/>
          <p:nvPr/>
        </p:nvGrpSpPr>
        <p:grpSpPr>
          <a:xfrm>
            <a:off x="2741201" y="1432694"/>
            <a:ext cx="2689784" cy="432478"/>
            <a:chOff x="3041005" y="1965137"/>
            <a:chExt cx="2689784" cy="432478"/>
          </a:xfrm>
        </p:grpSpPr>
        <p:sp>
          <p:nvSpPr>
            <p:cNvPr id="676" name="Google Shape;676;p29"/>
            <p:cNvSpPr/>
            <p:nvPr/>
          </p:nvSpPr>
          <p:spPr>
            <a:xfrm>
              <a:off x="3041005" y="19671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3582642" y="19651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4130459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4688572" y="197131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5236388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</p:grpSp>
      <p:grpSp>
        <p:nvGrpSpPr>
          <p:cNvPr id="681" name="Google Shape;681;p29"/>
          <p:cNvGrpSpPr/>
          <p:nvPr/>
        </p:nvGrpSpPr>
        <p:grpSpPr>
          <a:xfrm>
            <a:off x="106150" y="1900850"/>
            <a:ext cx="6100430" cy="568500"/>
            <a:chOff x="407586" y="2525441"/>
            <a:chExt cx="6278100" cy="568500"/>
          </a:xfrm>
        </p:grpSpPr>
        <p:sp>
          <p:nvSpPr>
            <p:cNvPr id="682" name="Google Shape;682;p29"/>
            <p:cNvSpPr/>
            <p:nvPr/>
          </p:nvSpPr>
          <p:spPr>
            <a:xfrm>
              <a:off x="407586" y="2525441"/>
              <a:ext cx="6278100" cy="568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ss</a:t>
              </a:r>
              <a:endParaRPr/>
            </a:p>
          </p:txBody>
        </p:sp>
        <p:grpSp>
          <p:nvGrpSpPr>
            <p:cNvPr id="683" name="Google Shape;683;p29"/>
            <p:cNvGrpSpPr/>
            <p:nvPr/>
          </p:nvGrpSpPr>
          <p:grpSpPr>
            <a:xfrm>
              <a:off x="1135678" y="2589153"/>
              <a:ext cx="5490649" cy="436597"/>
              <a:chOff x="1135678" y="2589153"/>
              <a:chExt cx="5490649" cy="436597"/>
            </a:xfrm>
          </p:grpSpPr>
          <p:grpSp>
            <p:nvGrpSpPr>
              <p:cNvPr id="684" name="Google Shape;684;p29"/>
              <p:cNvGrpSpPr/>
              <p:nvPr/>
            </p:nvGrpSpPr>
            <p:grpSpPr>
              <a:xfrm>
                <a:off x="3936543" y="2589153"/>
                <a:ext cx="2689784" cy="432478"/>
                <a:chOff x="2078911" y="3054591"/>
                <a:chExt cx="2689784" cy="432478"/>
              </a:xfrm>
            </p:grpSpPr>
            <p:sp>
              <p:nvSpPr>
                <p:cNvPr id="685" name="Google Shape;685;p29"/>
                <p:cNvSpPr/>
                <p:nvPr/>
              </p:nvSpPr>
              <p:spPr>
                <a:xfrm>
                  <a:off x="2078911" y="3056651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5</a:t>
                  </a:r>
                  <a:endParaRPr b="1" sz="1000"/>
                </a:p>
              </p:txBody>
            </p:sp>
            <p:sp>
              <p:nvSpPr>
                <p:cNvPr id="686" name="Google Shape;686;p29"/>
                <p:cNvSpPr/>
                <p:nvPr/>
              </p:nvSpPr>
              <p:spPr>
                <a:xfrm>
                  <a:off x="2620548" y="3054591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6</a:t>
                  </a:r>
                  <a:endParaRPr b="1" sz="1000"/>
                </a:p>
              </p:txBody>
            </p:sp>
            <p:sp>
              <p:nvSpPr>
                <p:cNvPr id="687" name="Google Shape;687;p29"/>
                <p:cNvSpPr/>
                <p:nvPr/>
              </p:nvSpPr>
              <p:spPr>
                <a:xfrm>
                  <a:off x="3168365" y="3058710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7</a:t>
                  </a:r>
                  <a:endParaRPr b="1" sz="1000"/>
                </a:p>
              </p:txBody>
            </p:sp>
            <p:sp>
              <p:nvSpPr>
                <p:cNvPr id="688" name="Google Shape;688;p29"/>
                <p:cNvSpPr/>
                <p:nvPr/>
              </p:nvSpPr>
              <p:spPr>
                <a:xfrm>
                  <a:off x="3726478" y="3060769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8</a:t>
                  </a:r>
                  <a:endParaRPr b="1" sz="1000"/>
                </a:p>
              </p:txBody>
            </p:sp>
            <p:sp>
              <p:nvSpPr>
                <p:cNvPr id="689" name="Google Shape;689;p29"/>
                <p:cNvSpPr/>
                <p:nvPr/>
              </p:nvSpPr>
              <p:spPr>
                <a:xfrm>
                  <a:off x="4274294" y="3058710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9</a:t>
                  </a:r>
                  <a:endParaRPr b="1" sz="1000"/>
                </a:p>
              </p:txBody>
            </p:sp>
          </p:grpSp>
          <p:grpSp>
            <p:nvGrpSpPr>
              <p:cNvPr id="690" name="Google Shape;690;p29"/>
              <p:cNvGrpSpPr/>
              <p:nvPr/>
            </p:nvGrpSpPr>
            <p:grpSpPr>
              <a:xfrm>
                <a:off x="1135678" y="2593272"/>
                <a:ext cx="2689784" cy="432478"/>
                <a:chOff x="2074792" y="2543845"/>
                <a:chExt cx="2689784" cy="432478"/>
              </a:xfrm>
            </p:grpSpPr>
            <p:sp>
              <p:nvSpPr>
                <p:cNvPr id="691" name="Google Shape;691;p29"/>
                <p:cNvSpPr/>
                <p:nvPr/>
              </p:nvSpPr>
              <p:spPr>
                <a:xfrm>
                  <a:off x="2074792" y="2545905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0</a:t>
                  </a:r>
                  <a:endParaRPr b="1" sz="1000"/>
                </a:p>
              </p:txBody>
            </p:sp>
            <p:sp>
              <p:nvSpPr>
                <p:cNvPr id="692" name="Google Shape;692;p29"/>
                <p:cNvSpPr/>
                <p:nvPr/>
              </p:nvSpPr>
              <p:spPr>
                <a:xfrm>
                  <a:off x="2616429" y="2543845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1</a:t>
                  </a:r>
                  <a:endParaRPr b="1" sz="1000"/>
                </a:p>
              </p:txBody>
            </p:sp>
            <p:sp>
              <p:nvSpPr>
                <p:cNvPr id="693" name="Google Shape;693;p29"/>
                <p:cNvSpPr/>
                <p:nvPr/>
              </p:nvSpPr>
              <p:spPr>
                <a:xfrm>
                  <a:off x="3164246" y="2547964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2</a:t>
                  </a:r>
                  <a:endParaRPr b="1" sz="1000"/>
                </a:p>
              </p:txBody>
            </p:sp>
            <p:sp>
              <p:nvSpPr>
                <p:cNvPr id="694" name="Google Shape;694;p29"/>
                <p:cNvSpPr/>
                <p:nvPr/>
              </p:nvSpPr>
              <p:spPr>
                <a:xfrm>
                  <a:off x="3722359" y="2550024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3</a:t>
                  </a:r>
                  <a:endParaRPr b="1" sz="1000"/>
                </a:p>
              </p:txBody>
            </p:sp>
            <p:sp>
              <p:nvSpPr>
                <p:cNvPr id="695" name="Google Shape;695;p29"/>
                <p:cNvSpPr/>
                <p:nvPr/>
              </p:nvSpPr>
              <p:spPr>
                <a:xfrm>
                  <a:off x="4270175" y="2547964"/>
                  <a:ext cx="494400" cy="4263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381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/>
                    <a:t>4</a:t>
                  </a:r>
                  <a:endParaRPr b="1" sz="1000"/>
                </a:p>
              </p:txBody>
            </p:sp>
          </p:grpSp>
        </p:grpSp>
        <p:sp>
          <p:nvSpPr>
            <p:cNvPr id="696" name="Google Shape;696;p29"/>
            <p:cNvSpPr txBox="1"/>
            <p:nvPr/>
          </p:nvSpPr>
          <p:spPr>
            <a:xfrm>
              <a:off x="407588" y="2590140"/>
              <a:ext cx="8010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Buckets</a:t>
              </a:r>
              <a:endParaRPr b="1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97" name="Google Shape;697;p29"/>
          <p:cNvGrpSpPr/>
          <p:nvPr/>
        </p:nvGrpSpPr>
        <p:grpSpPr>
          <a:xfrm>
            <a:off x="126925" y="2519600"/>
            <a:ext cx="6100500" cy="981300"/>
            <a:chOff x="426728" y="2794420"/>
            <a:chExt cx="6100500" cy="981300"/>
          </a:xfrm>
        </p:grpSpPr>
        <p:sp>
          <p:nvSpPr>
            <p:cNvPr id="698" name="Google Shape;698;p29"/>
            <p:cNvSpPr/>
            <p:nvPr/>
          </p:nvSpPr>
          <p:spPr>
            <a:xfrm>
              <a:off x="426728" y="2794420"/>
              <a:ext cx="6100500" cy="981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 txBox="1"/>
            <p:nvPr/>
          </p:nvSpPr>
          <p:spPr>
            <a:xfrm>
              <a:off x="510510" y="3100647"/>
              <a:ext cx="1285200" cy="3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Digit 0</a:t>
              </a:r>
              <a:endParaRPr b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1628857" y="28155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</a:t>
              </a:r>
              <a:r>
                <a:rPr b="1" lang="en" sz="1000">
                  <a:solidFill>
                    <a:srgbClr val="FF0000"/>
                  </a:solidFill>
                </a:rPr>
                <a:t>1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2183127" y="282639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</a:t>
              </a:r>
              <a:r>
                <a:rPr b="1" lang="en" sz="1000">
                  <a:solidFill>
                    <a:srgbClr val="FF0000"/>
                  </a:solidFill>
                </a:rPr>
                <a:t>2</a:t>
              </a:r>
              <a:endParaRPr b="1" sz="1000">
                <a:solidFill>
                  <a:srgbClr val="FF0000"/>
                </a:solidFill>
              </a:endParaRPr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2196086" y="329524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</a:t>
              </a:r>
              <a:r>
                <a:rPr b="1" lang="en" sz="1000">
                  <a:solidFill>
                    <a:srgbClr val="FF0000"/>
                  </a:solidFill>
                </a:rPr>
                <a:t>2</a:t>
              </a:r>
              <a:endParaRPr b="1" sz="1000">
                <a:solidFill>
                  <a:srgbClr val="FF0000"/>
                </a:solidFill>
              </a:endParaRPr>
            </a:p>
          </p:txBody>
        </p:sp>
      </p:grpSp>
      <p:grpSp>
        <p:nvGrpSpPr>
          <p:cNvPr id="703" name="Google Shape;703;p29"/>
          <p:cNvGrpSpPr/>
          <p:nvPr/>
        </p:nvGrpSpPr>
        <p:grpSpPr>
          <a:xfrm>
            <a:off x="128600" y="3538100"/>
            <a:ext cx="6100500" cy="981300"/>
            <a:chOff x="417577" y="2794421"/>
            <a:chExt cx="6100500" cy="981300"/>
          </a:xfrm>
        </p:grpSpPr>
        <p:sp>
          <p:nvSpPr>
            <p:cNvPr id="704" name="Google Shape;704;p29"/>
            <p:cNvSpPr/>
            <p:nvPr/>
          </p:nvSpPr>
          <p:spPr>
            <a:xfrm>
              <a:off x="417577" y="2794421"/>
              <a:ext cx="6100500" cy="981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 txBox="1"/>
            <p:nvPr/>
          </p:nvSpPr>
          <p:spPr>
            <a:xfrm>
              <a:off x="518838" y="3025696"/>
              <a:ext cx="1285200" cy="3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Digit 1</a:t>
              </a:r>
              <a:endParaRPr b="1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1659832" y="2815564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1</a:t>
              </a:r>
              <a:r>
                <a:rPr b="1" lang="en" sz="1000"/>
                <a:t>1</a:t>
              </a:r>
              <a:endParaRPr b="1" sz="1000"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2214306" y="2826390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2</a:t>
              </a:r>
              <a:r>
                <a:rPr b="1" lang="en" sz="1000"/>
                <a:t>2</a:t>
              </a:r>
              <a:endParaRPr b="1" sz="1000"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1677422" y="3295249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</a:rPr>
                <a:t>1</a:t>
              </a:r>
              <a:r>
                <a:rPr b="1" lang="en" sz="1000"/>
                <a:t>2</a:t>
              </a:r>
              <a:endParaRPr b="1" sz="1000"/>
            </a:p>
          </p:txBody>
        </p:sp>
      </p:grpSp>
      <p:sp>
        <p:nvSpPr>
          <p:cNvPr id="709" name="Google Shape;709;p29"/>
          <p:cNvSpPr/>
          <p:nvPr/>
        </p:nvSpPr>
        <p:spPr>
          <a:xfrm>
            <a:off x="2946001" y="2545741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6</a:t>
            </a:r>
            <a:r>
              <a:rPr b="1" lang="en" sz="1000">
                <a:solidFill>
                  <a:srgbClr val="FF0000"/>
                </a:solidFill>
              </a:rPr>
              <a:t>4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710" name="Google Shape;710;p29"/>
          <p:cNvSpPr/>
          <p:nvPr/>
        </p:nvSpPr>
        <p:spPr>
          <a:xfrm>
            <a:off x="3548106" y="2556567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</a:t>
            </a:r>
            <a:r>
              <a:rPr b="1" lang="en" sz="1000">
                <a:solidFill>
                  <a:srgbClr val="FF0000"/>
                </a:solidFill>
              </a:rPr>
              <a:t>5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711" name="Google Shape;711;p29"/>
          <p:cNvSpPr/>
          <p:nvPr/>
        </p:nvSpPr>
        <p:spPr>
          <a:xfrm>
            <a:off x="1936155" y="4047256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</a:rPr>
              <a:t>2</a:t>
            </a:r>
            <a:r>
              <a:rPr b="1" lang="en" sz="1000"/>
              <a:t>5</a:t>
            </a:r>
            <a:endParaRPr b="1" sz="1000"/>
          </a:p>
        </p:txBody>
      </p:sp>
      <p:sp>
        <p:nvSpPr>
          <p:cNvPr id="712" name="Google Shape;712;p29"/>
          <p:cNvSpPr/>
          <p:nvPr/>
        </p:nvSpPr>
        <p:spPr>
          <a:xfrm>
            <a:off x="4089011" y="3580895"/>
            <a:ext cx="494400" cy="42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</a:rPr>
              <a:t>6</a:t>
            </a:r>
            <a:r>
              <a:rPr b="1" lang="en" sz="1000">
                <a:solidFill>
                  <a:schemeClr val="dk1"/>
                </a:solidFill>
              </a:rPr>
              <a:t>4</a:t>
            </a:r>
            <a:endParaRPr b="1" sz="1000">
              <a:solidFill>
                <a:schemeClr val="dk1"/>
              </a:solidFill>
            </a:endParaRPr>
          </a:p>
        </p:txBody>
      </p:sp>
      <p:grpSp>
        <p:nvGrpSpPr>
          <p:cNvPr id="713" name="Google Shape;713;p29"/>
          <p:cNvGrpSpPr/>
          <p:nvPr/>
        </p:nvGrpSpPr>
        <p:grpSpPr>
          <a:xfrm>
            <a:off x="6382961" y="2751676"/>
            <a:ext cx="2689784" cy="432478"/>
            <a:chOff x="3041005" y="1965137"/>
            <a:chExt cx="2689784" cy="432478"/>
          </a:xfrm>
        </p:grpSpPr>
        <p:sp>
          <p:nvSpPr>
            <p:cNvPr id="714" name="Google Shape;714;p29"/>
            <p:cNvSpPr/>
            <p:nvPr/>
          </p:nvSpPr>
          <p:spPr>
            <a:xfrm>
              <a:off x="3041005" y="196719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3582642" y="1965137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4130459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4688572" y="197131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5236388" y="1969256"/>
              <a:ext cx="494400" cy="426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</p:grpSp>
      <p:grpSp>
        <p:nvGrpSpPr>
          <p:cNvPr id="719" name="Google Shape;719;p29"/>
          <p:cNvGrpSpPr/>
          <p:nvPr/>
        </p:nvGrpSpPr>
        <p:grpSpPr>
          <a:xfrm>
            <a:off x="6402115" y="3711879"/>
            <a:ext cx="2689784" cy="432478"/>
            <a:chOff x="3041005" y="1965137"/>
            <a:chExt cx="2689784" cy="432478"/>
          </a:xfrm>
        </p:grpSpPr>
        <p:sp>
          <p:nvSpPr>
            <p:cNvPr id="720" name="Google Shape;720;p29"/>
            <p:cNvSpPr/>
            <p:nvPr/>
          </p:nvSpPr>
          <p:spPr>
            <a:xfrm>
              <a:off x="3041005" y="196719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11</a:t>
              </a:r>
              <a:endParaRPr b="1" sz="1000"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582642" y="1965137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12</a:t>
              </a:r>
              <a:endParaRPr b="1" sz="1000"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4130459" y="196925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22</a:t>
              </a:r>
              <a:endParaRPr b="1" sz="1000"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4688572" y="197131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25</a:t>
              </a:r>
              <a:endParaRPr b="1" sz="1000"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236388" y="1969256"/>
              <a:ext cx="494400" cy="426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64</a:t>
              </a:r>
              <a:endParaRPr b="1" sz="10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0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0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0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Radix</a:t>
            </a: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5" name="Google Shape;7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047" y="451325"/>
            <a:ext cx="4243715" cy="4225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450" y="540850"/>
            <a:ext cx="31337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75" y="3172450"/>
            <a:ext cx="429577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1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1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1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747" name="Google Shape;747;p31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Radix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8" name="Google Shape;7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888" y="438800"/>
            <a:ext cx="3012539" cy="422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385" y="438800"/>
            <a:ext cx="3012539" cy="422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2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2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150" y="741375"/>
            <a:ext cx="8784000" cy="3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(d(n+k))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𝚹(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d(n+k)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):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𝚹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d(n+k)</a:t>
            </a: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○"/>
            </a:pPr>
            <a:r>
              <a:rPr lang="en">
                <a:solidFill>
                  <a:srgbClr val="0000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O(n+k)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Not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n-place sorting.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fair Display"/>
              <a:buChar char="•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data's initial order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does not affect the algorithm performance.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32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-6025" y="33075"/>
            <a:ext cx="19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Radix</a:t>
            </a: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Sort: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1" name="Google Shape;7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875" y="469700"/>
            <a:ext cx="3004275" cy="299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7950" y="552972"/>
            <a:ext cx="2139700" cy="14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3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3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3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150" y="741375"/>
            <a:ext cx="8784000" cy="3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-2286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more efficient sorting algorithms with O(n log(n)) e.g. 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Sort.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Sort.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Sort.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 the shared Colab Notebook for more information!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33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773" name="Google Shape;773;p33"/>
          <p:cNvSpPr txBox="1"/>
          <p:nvPr/>
        </p:nvSpPr>
        <p:spPr>
          <a:xfrm>
            <a:off x="150" y="286400"/>
            <a:ext cx="333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Sorting, SOTA: 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4" name="Google Shape;7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326" y="2415300"/>
            <a:ext cx="5386900" cy="21600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4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4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4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150" y="747553"/>
            <a:ext cx="494460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7500" spcFirstLastPara="1" rIns="67500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Popular books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Introduction to Algorithms, Cormen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- Algorithms &amp; Data Structure, Wirth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- The Art of Computer Programming, Knuth </a:t>
            </a:r>
            <a:endParaRPr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Animations</a:t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Advanced Sorting Algorithm Visualizer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Visualgo Sorting </a:t>
            </a: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Animation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 Online courses e.g. MIT: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computational thinking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algorithms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and analysis of algorithms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 u="sng">
                <a:solidFill>
                  <a:srgbClr val="0B57D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the Theory of Computation</a:t>
            </a:r>
            <a:endParaRPr sz="1200" u="sng">
              <a:solidFill>
                <a:srgbClr val="0B57D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84" name="Google Shape;784;p34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50" y="28640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Resources:</a:t>
            </a:r>
            <a:endParaRPr b="1"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6" name="Google Shape;786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4450" y="2194673"/>
            <a:ext cx="1884024" cy="182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35437" y="396779"/>
            <a:ext cx="984826" cy="111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8" name="Google Shape;788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20237" y="378475"/>
            <a:ext cx="853159" cy="11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24287" y="378471"/>
            <a:ext cx="1524977" cy="113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/>
          <p:cNvSpPr/>
          <p:nvPr/>
        </p:nvSpPr>
        <p:spPr>
          <a:xfrm>
            <a:off x="150" y="4842175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5"/>
          <p:cNvSpPr/>
          <p:nvPr/>
        </p:nvSpPr>
        <p:spPr>
          <a:xfrm>
            <a:off x="0" y="35300"/>
            <a:ext cx="9144000" cy="25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5"/>
          <p:cNvSpPr txBox="1"/>
          <p:nvPr/>
        </p:nvSpPr>
        <p:spPr>
          <a:xfrm>
            <a:off x="859350" y="4817122"/>
            <a:ext cx="70185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Ibraheem Al-Dhamari</a:t>
            </a:r>
            <a:r>
              <a:rPr b="1" lang="en" sz="900">
                <a:solidFill>
                  <a:srgbClr val="FFFF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       ia@idhamari.com</a:t>
            </a:r>
            <a:endParaRPr b="0" i="0" sz="11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5"/>
          <p:cNvSpPr txBox="1"/>
          <p:nvPr>
            <p:ph idx="12" type="sldNum"/>
          </p:nvPr>
        </p:nvSpPr>
        <p:spPr>
          <a:xfrm>
            <a:off x="8062031" y="4795988"/>
            <a:ext cx="940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rgbClr val="00FF00"/>
                </a:solidFill>
              </a:rPr>
              <a:t>‹#›</a:t>
            </a:fld>
            <a:endParaRPr b="1">
              <a:solidFill>
                <a:srgbClr val="00FF00"/>
              </a:solidFill>
            </a:endParaRPr>
          </a:p>
        </p:txBody>
      </p:sp>
      <p:pic>
        <p:nvPicPr>
          <p:cNvPr id="799" name="Google Shape;7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325" y="920020"/>
            <a:ext cx="2677000" cy="2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35"/>
          <p:cNvSpPr txBox="1"/>
          <p:nvPr/>
        </p:nvSpPr>
        <p:spPr>
          <a:xfrm>
            <a:off x="1830688" y="1675531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chemeClr val="dk1"/>
                </a:solidFill>
                <a:latin typeface="Monsieur La Doulaise"/>
                <a:ea typeface="Monsieur La Doulaise"/>
                <a:cs typeface="Monsieur La Doulaise"/>
                <a:sym typeface="Monsieur La Doulaise"/>
              </a:rPr>
              <a:t>Thank You</a:t>
            </a:r>
            <a:endParaRPr b="1" sz="5800">
              <a:latin typeface="Monsieur La Doulaise"/>
              <a:ea typeface="Monsieur La Doulaise"/>
              <a:cs typeface="Monsieur La Doulaise"/>
              <a:sym typeface="Monsieur La Doulais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